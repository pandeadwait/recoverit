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93"/>
  </p:normalViewPr>
  <p:slideViewPr>
    <p:cSldViewPr snapToGrid="0">
      <p:cViewPr varScale="1">
        <p:scale>
          <a:sx n="147" d="100"/>
          <a:sy n="147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RecoverIT Report IV (Adwait).docx, Title page.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RecoverIT Report IV (Adwait).docx, Chapter 1.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RecoverIT Report IV (Adwait).docx, Chapters 1 and 3.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RecoverIT Report IV (Adwait).docx, Chapter 2, especially Section 2.18.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RecoverIT Report IV (Adwait).docx, Chapters 3 and 4.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RecoverIT Report IV (Adwait).docx, Chapters 3 and 4.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RecoverIT Report IV (Adwait).docx, Chapters 3 and 4. All implementation and case-study claims are drawn from the final report. The diagram is a simplified conceptual workflow, not a literal representation of every LangGraph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RecoverIT Report IV (Adwait).docx, Chapters 3 and 4.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RecoverIT Report IV (Adwait).docx, Chapters 3 and 4.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RecoverIT Report IV (Adwait).docx, Section 4.7.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RecoverIT Report IV (Adwait).docx, Sections 4.7 and 4.8.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RecoverIT Report IV (Adwait).docx, Sections 4.8 and Chapter 5.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RecoverIT Report IV (Adwait).docx, Chapter 5.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D40A1BF-FC14-4323-82E1-069A1A967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864DBCF-2D41-4760-8999-812C958B1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10285DC-F2A5-4B78-94EB-D7F839843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C50CF26-1E5A-4641-980B-C2DBD7A9A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38D111C-2FE5-4C70-AF6F-7487023A8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F8F6316-D163-481F-8947-837E0A543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E96AC77-2206-4715-B155-7219C109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25FA4EE-BA05-4BC3-B3BD-F5C4723FCD7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805D9E-8575-43EC-8B84-472472207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B536F3E-2A7E-456E-901D-A1896AA76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61D31BA-8F6A-463C-9191-D9F16906BBA0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PROJECT I · VIT CHENNAI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2A29F7-2B91-440F-81CD-DD075CE1018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RecoverIT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6A2752-CEA5-4C91-8967-64A2193065C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94FE21-C12E-4EF3-99C0-D02F567196C8}"/>
              </a:ext>
            </a:extLst>
          </p:cNvPr>
          <p:cNvSpPr>
            <a:spLocks noGrp="1"/>
          </p:cNvSpPr>
          <p:nvPr/>
        </p:nvSpPr>
        <p:spPr>
          <a:xfrm>
            <a:off x="10668000" y="6400800"/>
            <a:ext cx="95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01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D1F2E8-8A34-448A-8F8F-E61D5F6CBEC3}"/>
              </a:ext>
            </a:extLst>
          </p:cNvPr>
          <p:cNvSpPr>
            <a:spLocks noGrp="1"/>
          </p:cNvSpPr>
          <p:nvPr/>
        </p:nvSpPr>
        <p:spPr>
          <a:xfrm>
            <a:off x="609600" y="1933575"/>
            <a:ext cx="1097280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7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Autonomous CI/CD Incident Investigation and</a:t>
            </a:r>
          </a:p>
          <a:p>
            <a:pPr algn="l">
              <a:defRPr sz="27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Evidence-Based Remediation Recommendations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E2CC1A-6F07-4ED7-9F08-BDD444CE4572}"/>
              </a:ext>
            </a:extLst>
          </p:cNvPr>
          <p:cNvSpPr>
            <a:spLocks noGrp="1"/>
          </p:cNvSpPr>
          <p:nvPr/>
        </p:nvSpPr>
        <p:spPr>
          <a:xfrm>
            <a:off x="609600" y="3495675"/>
            <a:ext cx="647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TEAM MEMBERS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13BC41-605B-4190-9505-B239DA69ACAB}"/>
              </a:ext>
            </a:extLst>
          </p:cNvPr>
          <p:cNvSpPr>
            <a:spLocks noGrp="1"/>
          </p:cNvSpPr>
          <p:nvPr/>
        </p:nvSpPr>
        <p:spPr>
          <a:xfrm>
            <a:off x="609600" y="3914775"/>
            <a:ext cx="66675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Adwait Vikram Pande  ·  23BAI1263</a:t>
            </a:r>
          </a:p>
          <a:p>
            <a: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Suryansh Rai  ·  23BAI1469</a:t>
            </a:r>
          </a:p>
          <a:p>
            <a: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Om Kalpesh Kshirsagar  ·  23BAI1351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D76BFE-1B3F-4248-9BEE-7664F0E1B8DF}"/>
              </a:ext>
            </a:extLst>
          </p:cNvPr>
          <p:cNvSpPr>
            <a:spLocks noGrp="1"/>
          </p:cNvSpPr>
          <p:nvPr/>
        </p:nvSpPr>
        <p:spPr>
          <a:xfrm>
            <a:off x="8077200" y="3495675"/>
            <a:ext cx="3505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PROJECT GUIDE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C5BED3-0A87-4AEC-A689-990032AB4028}"/>
              </a:ext>
            </a:extLst>
          </p:cNvPr>
          <p:cNvSpPr>
            <a:spLocks noGrp="1"/>
          </p:cNvSpPr>
          <p:nvPr/>
        </p:nvSpPr>
        <p:spPr>
          <a:xfrm>
            <a:off x="8077200" y="3914775"/>
            <a:ext cx="35052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Dr. Raja 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316014-43E2-4767-9477-95D70C437308}"/>
              </a:ext>
            </a:extLst>
          </p:cNvPr>
          <p:cNvSpPr>
            <a:spLocks noGrp="1"/>
          </p:cNvSpPr>
          <p:nvPr/>
        </p:nvSpPr>
        <p:spPr>
          <a:xfrm>
            <a:off x="609600" y="5305425"/>
            <a:ext cx="109728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School of Computer Science and Engineering</a:t>
            </a:r>
          </a:p>
          <a:p>
            <a:pPr algn="l">
              <a:defRPr sz="17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B.Tech in Computer Science and Engineering</a:t>
            </a:r>
          </a:p>
          <a:p>
            <a:pPr algn="l">
              <a:defRPr sz="17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with specialization in Artificial Intelligence and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677655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ACF54E2-D24C-4957-8909-61698F2E0F83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RECOVERIT · EVIDENCE-BASED INCIDENT INVESTIGATION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A090BF-07AB-4E56-990A-162B8F5C954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910112-6AE3-45BC-857D-8DFF93343C1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20926C-AAA9-4175-BDC2-2DC57351A669}"/>
              </a:ext>
            </a:extLst>
          </p:cNvPr>
          <p:cNvSpPr>
            <a:spLocks noGrp="1"/>
          </p:cNvSpPr>
          <p:nvPr/>
        </p:nvSpPr>
        <p:spPr>
          <a:xfrm>
            <a:off x="10668000" y="6400800"/>
            <a:ext cx="95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02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DAAD92-F59E-4133-A7AE-7E252F88F094}"/>
              </a:ext>
            </a:extLst>
          </p:cNvPr>
          <p:cNvSpPr>
            <a:spLocks noGrp="1"/>
          </p:cNvSpPr>
          <p:nvPr/>
        </p:nvSpPr>
        <p:spPr>
          <a:xfrm>
            <a:off x="609600" y="1971675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4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When a deployment fails, the symptom is visible.</a:t>
            </a:r>
          </a:p>
          <a:p>
            <a:pPr algn="l">
              <a:defRPr sz="24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The explanation is spread across several sources.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416C6-D31D-46F3-B824-557931E6589E}"/>
              </a:ext>
            </a:extLst>
          </p:cNvPr>
          <p:cNvSpPr>
            <a:spLocks noGrp="1"/>
          </p:cNvSpPr>
          <p:nvPr/>
        </p:nvSpPr>
        <p:spPr>
          <a:xfrm>
            <a:off x="609600" y="3228975"/>
            <a:ext cx="2286000" cy="866775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Application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logs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C4DB39-1B3C-454C-9B7A-69936BC8778A}"/>
              </a:ext>
            </a:extLst>
          </p:cNvPr>
          <p:cNvSpPr>
            <a:spLocks noGrp="1"/>
          </p:cNvSpPr>
          <p:nvPr/>
        </p:nvSpPr>
        <p:spPr>
          <a:xfrm>
            <a:off x="3467100" y="3228975"/>
            <a:ext cx="2286000" cy="866775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Metrics &amp;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health checks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950805-BC5D-4293-A777-F00E81FC06E6}"/>
              </a:ext>
            </a:extLst>
          </p:cNvPr>
          <p:cNvSpPr>
            <a:spLocks noGrp="1"/>
          </p:cNvSpPr>
          <p:nvPr/>
        </p:nvSpPr>
        <p:spPr>
          <a:xfrm>
            <a:off x="6324600" y="3228975"/>
            <a:ext cx="2286000" cy="866775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Git &amp;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770AF6-4BDE-40A3-8DC2-F7C2FD62D86B}"/>
              </a:ext>
            </a:extLst>
          </p:cNvPr>
          <p:cNvSpPr>
            <a:spLocks noGrp="1"/>
          </p:cNvSpPr>
          <p:nvPr/>
        </p:nvSpPr>
        <p:spPr>
          <a:xfrm>
            <a:off x="9182100" y="3228975"/>
            <a:ext cx="2400300" cy="866775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Delivery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3F422B-AAD9-4CC1-B62D-A02B0B7101FA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10858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Teams must correlate changes, errors and timing before deciding what to do. Missing evidence and plausible explanations can make this investigation slow and difficult to verify.</a:t>
            </a:r>
          </a:p>
        </p:txBody>
      </p:sp>
    </p:spTree>
    <p:extLst>
      <p:ext uri="{BB962C8B-B14F-4D97-AF65-F5344CB8AC3E}">
        <p14:creationId xmlns:p14="http://schemas.microsoft.com/office/powerpoint/2010/main" val="690502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2071F61-BF73-447C-8377-AFE6C6A214B9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8724900" y="3514725"/>
            <a:ext cx="457200" cy="0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BF12CB-C256-4962-AC53-6950F900F919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867400" y="3514725"/>
            <a:ext cx="457200" cy="0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E02CB7-FA0A-4B36-9BD9-A98669B55DB5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3009900" y="3514725"/>
            <a:ext cx="457200" cy="0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36774A9-3E9E-49D9-A103-FF4B5362B91F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1733D1-1B13-4059-88BA-B0813313322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From scattered signals to a reviewable diagnosis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4A069B-3BE0-41FB-B80A-283693D5E36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9C2469-F974-47F4-9DD7-FBA707667B27}"/>
              </a:ext>
            </a:extLst>
          </p:cNvPr>
          <p:cNvSpPr>
            <a:spLocks noGrp="1"/>
          </p:cNvSpPr>
          <p:nvPr/>
        </p:nvSpPr>
        <p:spPr>
          <a:xfrm>
            <a:off x="10668000" y="6400800"/>
            <a:ext cx="95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03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1D12B8-BA7D-4E4E-B98A-A50D2FAA03D2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076325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We built RecoverIT to investigate an incident, organize supporting evidence and produce ranked explanations with remediation recommendations.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B81BD9-9D02-4AC8-A97B-6DCBDEECC977}"/>
              </a:ext>
            </a:extLst>
          </p:cNvPr>
          <p:cNvSpPr>
            <a:spLocks noGrp="1"/>
          </p:cNvSpPr>
          <p:nvPr/>
        </p:nvSpPr>
        <p:spPr>
          <a:xfrm>
            <a:off x="609600" y="3038475"/>
            <a:ext cx="2400300" cy="95250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Incident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42B775-0D62-4C2C-ACC0-31C37A171440}"/>
              </a:ext>
            </a:extLst>
          </p:cNvPr>
          <p:cNvSpPr>
            <a:spLocks noGrp="1"/>
          </p:cNvSpPr>
          <p:nvPr/>
        </p:nvSpPr>
        <p:spPr>
          <a:xfrm>
            <a:off x="3467100" y="3038475"/>
            <a:ext cx="2400300" cy="95250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Evidence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collection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28520B-CBC8-4629-999D-2D6AE0344DE2}"/>
              </a:ext>
            </a:extLst>
          </p:cNvPr>
          <p:cNvSpPr>
            <a:spLocks noGrp="1"/>
          </p:cNvSpPr>
          <p:nvPr/>
        </p:nvSpPr>
        <p:spPr>
          <a:xfrm>
            <a:off x="6324600" y="3038475"/>
            <a:ext cx="2400300" cy="95250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Ranked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6DF4A8-470B-4B0A-BCD6-AD14B02E6A61}"/>
              </a:ext>
            </a:extLst>
          </p:cNvPr>
          <p:cNvSpPr>
            <a:spLocks noGrp="1"/>
          </p:cNvSpPr>
          <p:nvPr/>
        </p:nvSpPr>
        <p:spPr>
          <a:xfrm>
            <a:off x="9182100" y="3038475"/>
            <a:ext cx="2400300" cy="952500"/>
          </a:xfrm>
          <a:prstGeom prst="rect">
            <a:avLst/>
          </a:prstGeom>
          <a:solidFill>
            <a:srgbClr val="087F8C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Reviewable</a:t>
            </a:r>
          </a:p>
          <a:p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guidance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372050-633C-4137-8F8D-C4C376A128E0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5048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Traceable reasoning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CB2760-B9ED-43C4-8C0C-981437DCFC8C}"/>
              </a:ext>
            </a:extLst>
          </p:cNvPr>
          <p:cNvSpPr>
            <a:spLocks noGrp="1"/>
          </p:cNvSpPr>
          <p:nvPr/>
        </p:nvSpPr>
        <p:spPr>
          <a:xfrm>
            <a:off x="609600" y="4886325"/>
            <a:ext cx="504825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Connect each explanation to identified evidence and a coherent incident timeline.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3D47CE-686E-41B0-8A3E-D49322BAECDC}"/>
              </a:ext>
            </a:extLst>
          </p:cNvPr>
          <p:cNvSpPr>
            <a:spLocks noGrp="1"/>
          </p:cNvSpPr>
          <p:nvPr/>
        </p:nvSpPr>
        <p:spPr>
          <a:xfrm>
            <a:off x="6229350" y="4457700"/>
            <a:ext cx="5334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Bounded investigation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A33CDA-6085-4AA6-BD57-A767ECC28FA0}"/>
              </a:ext>
            </a:extLst>
          </p:cNvPr>
          <p:cNvSpPr>
            <a:spLocks noGrp="1"/>
          </p:cNvSpPr>
          <p:nvPr/>
        </p:nvSpPr>
        <p:spPr>
          <a:xfrm>
            <a:off x="6229350" y="4886325"/>
            <a:ext cx="53340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Use configured read-only sources, explicit stopping conditions and an inconclusive outcome when support is insufficient.</a:t>
            </a:r>
          </a:p>
        </p:txBody>
      </p:sp>
    </p:spTree>
    <p:extLst>
      <p:ext uri="{BB962C8B-B14F-4D97-AF65-F5344CB8AC3E}">
        <p14:creationId xmlns:p14="http://schemas.microsoft.com/office/powerpoint/2010/main" val="209553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5F1229-C220-4C22-8A53-1892C571A671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LITERATURE CONTEXT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D6B5FC-AC96-41A4-B72A-B7802972C96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Research lessons that shaped the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1DD592-7B2E-4C10-AC1D-EBB413D2458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DD6921-4310-4293-8483-62670D2F487B}"/>
              </a:ext>
            </a:extLst>
          </p:cNvPr>
          <p:cNvSpPr>
            <a:spLocks noGrp="1"/>
          </p:cNvSpPr>
          <p:nvPr/>
        </p:nvSpPr>
        <p:spPr>
          <a:xfrm>
            <a:off x="10668000" y="6400800"/>
            <a:ext cx="95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04 / 13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3419C7-25D0-4D8C-890C-86EB1242980B}"/>
              </a:ext>
            </a:extLst>
          </p:cNvPr>
          <p:cNvGraphicFramePr/>
          <p:nvPr/>
        </p:nvGraphicFramePr>
        <p:xfrm>
          <a:off x="609600" y="1838325"/>
          <a:ext cx="10972800" cy="3524250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Research area</a:t>
                      </a:r>
                    </a:p>
                  </a:txBody>
                  <a:tcPr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>
                      <a:solidFill>
                        <a:srgbClr val="CBD8E1"/>
                      </a:solidFill>
                      <a:prstDash val="soli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Useful direction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>
                      <a:solidFill>
                        <a:srgbClr val="CBD8E1"/>
                      </a:solidFill>
                      <a:prstDash val="soli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Our design response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>
                      <a:solidFill>
                        <a:srgbClr val="CBD8E1"/>
                      </a:solidFill>
                      <a:prstDash val="soli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1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LLM agents</a:t>
                      </a:r>
                    </a:p>
                  </a:txBody>
                  <a:tcPr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Iterative retrieval and tool use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Bounded queries and typed outputs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Log-based diagnosis</a:t>
                      </a:r>
                    </a:p>
                  </a:txBody>
                  <a:tcPr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Filter high-value error signals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Join logs with changes and health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Microservice RCA</a:t>
                      </a:r>
                    </a:p>
                  </a:txBody>
                  <a:tcPr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Correlate multiple signal types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Provenance and timeline context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CI/CD failure analysis</a:t>
                      </a:r>
                    </a:p>
                  </a:txBody>
                  <a:tcPr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Use pipeline and delivery context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Configured delivery evidence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Self-healing systems</a:t>
                      </a:r>
                    </a:p>
                  </a:txBody>
                  <a:tcPr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Connect diagnosis to procedures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Policy-checked advice for review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A633015-6BE3-474D-9246-B00820EC60CE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347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Design focus: make the path from collected evidence to recommended action inspectable, while preserving uncertainty and missing source coverage.</a:t>
            </a:r>
          </a:p>
        </p:txBody>
      </p:sp>
    </p:spTree>
    <p:extLst>
      <p:ext uri="{BB962C8B-B14F-4D97-AF65-F5344CB8AC3E}">
        <p14:creationId xmlns:p14="http://schemas.microsoft.com/office/powerpoint/2010/main" val="2036053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44024FE-763C-4C32-8836-0BCB9B45D0DF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6096000" y="3657600"/>
            <a:ext cx="0" cy="314325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C39404-DDDE-488C-AAB2-3461C97676C6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6096000" y="2562225"/>
            <a:ext cx="0" cy="314325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4FB98A1-5AFC-42AA-AFA9-EBAFD6829E78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1B3382-B6B1-4E61-A6EF-CD9DFE8E668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A shared investigation core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935DA6-E594-43F3-A111-CDC4A1FE683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56C037-0B4F-41B0-8BC5-B42B1FE6C365}"/>
              </a:ext>
            </a:extLst>
          </p:cNvPr>
          <p:cNvSpPr>
            <a:spLocks noGrp="1"/>
          </p:cNvSpPr>
          <p:nvPr/>
        </p:nvSpPr>
        <p:spPr>
          <a:xfrm>
            <a:off x="10668000" y="6400800"/>
            <a:ext cx="95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05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9E7950-FCF5-4049-9FCA-22E1BF6B0A81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10972800" cy="714375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CONFIGURED SOURCES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Logs  ·  Metrics  ·  Git changes  ·  Deployment and pipeline records  ·  Health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CE91BA-065F-4227-BFA9-9671609D486D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10972800" cy="78105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EVIDENCE LAYER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Adapters → validation &amp; redaction → normalized evidence → timeline &amp; context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861523-70F0-4564-AE31-08AC47BD7B97}"/>
              </a:ext>
            </a:extLst>
          </p:cNvPr>
          <p:cNvSpPr>
            <a:spLocks noGrp="1"/>
          </p:cNvSpPr>
          <p:nvPr/>
        </p:nvSpPr>
        <p:spPr>
          <a:xfrm>
            <a:off x="609600" y="3971925"/>
            <a:ext cx="10972800" cy="78105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INVESTIGATION LAYER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LangGraph workflow → hypotheses → deterministic ranking → policy checks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893DB4-F534-4B76-8A0F-543239FF1ABF}"/>
              </a:ext>
            </a:extLst>
          </p:cNvPr>
          <p:cNvSpPr>
            <a:spLocks noGrp="1"/>
          </p:cNvSpPr>
          <p:nvPr/>
        </p:nvSpPr>
        <p:spPr>
          <a:xfrm>
            <a:off x="609600" y="5114925"/>
            <a:ext cx="5238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One runner, multiple interfaces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27C58E-165E-4889-BD41-EFFBC2F77B1A}"/>
              </a:ext>
            </a:extLst>
          </p:cNvPr>
          <p:cNvSpPr>
            <a:spLocks noGrp="1"/>
          </p:cNvSpPr>
          <p:nvPr/>
        </p:nvSpPr>
        <p:spPr>
          <a:xfrm>
            <a:off x="609600" y="5534025"/>
            <a:ext cx="10953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CLI + Markdown report  |  FastAPI service + web interface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1F5346-1A0B-4B50-9293-5239CCD3AD28}"/>
              </a:ext>
            </a:extLst>
          </p:cNvPr>
          <p:cNvSpPr>
            <a:spLocks noGrp="1"/>
          </p:cNvSpPr>
          <p:nvPr/>
        </p:nvSpPr>
        <p:spPr>
          <a:xfrm>
            <a:off x="609600" y="60102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Implementation: Python · Pydantic · LangGraph · SQLite checkpoints · FastAPI</a:t>
            </a:r>
          </a:p>
        </p:txBody>
      </p:sp>
    </p:spTree>
    <p:extLst>
      <p:ext uri="{BB962C8B-B14F-4D97-AF65-F5344CB8AC3E}">
        <p14:creationId xmlns:p14="http://schemas.microsoft.com/office/powerpoint/2010/main" val="1583147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113E7C6-B6F2-44B8-9EBF-50BA18BFA596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9324975" y="2352675"/>
            <a:ext cx="238125" cy="0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40DA7A-319E-4486-907D-8366BE7C5299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7086600" y="2352675"/>
            <a:ext cx="238125" cy="0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4D30BB-51F7-49AB-9055-9D4C98D8DB65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4848225" y="2352675"/>
            <a:ext cx="238125" cy="0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FA5566-5D85-4711-8F26-D3B06CACC49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609850" y="2352675"/>
            <a:ext cx="238125" cy="0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CC37AB2-9E9C-4DC3-8C1C-EBEC8C816090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EVIDENCE PROCESSING &amp; PROVENANCE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0E4706-72FB-4626-9BFC-07C9EA91F50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Evidence is prepared before reasoning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534B0A-7B93-44E0-87E7-EDD69C64367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A5265F-0F3F-4148-9179-4970E7A740EB}"/>
              </a:ext>
            </a:extLst>
          </p:cNvPr>
          <p:cNvSpPr>
            <a:spLocks noGrp="1"/>
          </p:cNvSpPr>
          <p:nvPr/>
        </p:nvSpPr>
        <p:spPr>
          <a:xfrm>
            <a:off x="10668000" y="6400800"/>
            <a:ext cx="95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06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3D4AB0-F845-43F8-9278-BBA97DDBBE69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2000250" cy="85725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947C8-B003-4BDE-B673-728FE7841C2F}"/>
              </a:ext>
            </a:extLst>
          </p:cNvPr>
          <p:cNvSpPr>
            <a:spLocks noGrp="1"/>
          </p:cNvSpPr>
          <p:nvPr/>
        </p:nvSpPr>
        <p:spPr>
          <a:xfrm>
            <a:off x="2847975" y="1924050"/>
            <a:ext cx="2000250" cy="85725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Validate &amp;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redact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08C70B-055F-4757-AA38-A6683A628269}"/>
              </a:ext>
            </a:extLst>
          </p:cNvPr>
          <p:cNvSpPr>
            <a:spLocks noGrp="1"/>
          </p:cNvSpPr>
          <p:nvPr/>
        </p:nvSpPr>
        <p:spPr>
          <a:xfrm>
            <a:off x="5086350" y="1924050"/>
            <a:ext cx="2000250" cy="85725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Normalize &amp;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deduplicate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0AFFDA-67F7-4D25-9FFF-B9CB8708352B}"/>
              </a:ext>
            </a:extLst>
          </p:cNvPr>
          <p:cNvSpPr>
            <a:spLocks noGrp="1"/>
          </p:cNvSpPr>
          <p:nvPr/>
        </p:nvSpPr>
        <p:spPr>
          <a:xfrm>
            <a:off x="7324725" y="1924050"/>
            <a:ext cx="2000250" cy="85725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Build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timeline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FF4AF5-7A7B-43D8-81B4-BBF840B07F7A}"/>
              </a:ext>
            </a:extLst>
          </p:cNvPr>
          <p:cNvSpPr>
            <a:spLocks noGrp="1"/>
          </p:cNvSpPr>
          <p:nvPr/>
        </p:nvSpPr>
        <p:spPr>
          <a:xfrm>
            <a:off x="9563100" y="1924050"/>
            <a:ext cx="2000250" cy="85725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Assemble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9BA027-A810-458D-921E-486D0940237F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Keep the source attached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45914D-5BE6-4EE6-982D-2C2329B44BCF}"/>
              </a:ext>
            </a:extLst>
          </p:cNvPr>
          <p:cNvSpPr>
            <a:spLocks noGrp="1"/>
          </p:cNvSpPr>
          <p:nvPr/>
        </p:nvSpPr>
        <p:spPr>
          <a:xfrm>
            <a:off x="609600" y="3743325"/>
            <a:ext cx="5143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Evidence retains source identifiers and timing so that a result can be traced back to the record that supports it.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E8586F-6AD9-4EFB-8469-576F241462E4}"/>
              </a:ext>
            </a:extLst>
          </p:cNvPr>
          <p:cNvSpPr>
            <a:spLocks noGrp="1"/>
          </p:cNvSpPr>
          <p:nvPr/>
        </p:nvSpPr>
        <p:spPr>
          <a:xfrm>
            <a:off x="6343650" y="33147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Make gaps explicit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F78A35-C4DF-4CE4-B451-FAE3BC014B63}"/>
              </a:ext>
            </a:extLst>
          </p:cNvPr>
          <p:cNvSpPr>
            <a:spLocks noGrp="1"/>
          </p:cNvSpPr>
          <p:nvPr/>
        </p:nvSpPr>
        <p:spPr>
          <a:xfrm>
            <a:off x="6343650" y="3743325"/>
            <a:ext cx="5143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An unavailable source or failed query is recorded as missing coverage. It does not become evidence that a fault is absent.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C56360-9AAC-4AF5-89A0-180DB7452917}"/>
              </a:ext>
            </a:extLst>
          </p:cNvPr>
          <p:cNvSpPr>
            <a:spLocks noGrp="1"/>
          </p:cNvSpPr>
          <p:nvPr/>
        </p:nvSpPr>
        <p:spPr>
          <a:xfrm>
            <a:off x="609600" y="4905375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Use consistent context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E9BD48-18F5-4B62-A16E-A3AB132BE085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5143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UTC timestamps, deterministic retrieval and a structured incident snapshot give the reasoning workflow a consistent view.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A0FA73-4E5C-42F6-9CE2-AD3AC9C4D7B8}"/>
              </a:ext>
            </a:extLst>
          </p:cNvPr>
          <p:cNvSpPr>
            <a:spLocks noGrp="1"/>
          </p:cNvSpPr>
          <p:nvPr/>
        </p:nvSpPr>
        <p:spPr>
          <a:xfrm>
            <a:off x="6343650" y="4905375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Separate sequence from cause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AADD0F-BF9D-4CC5-AC96-5E44FF51CFEE}"/>
              </a:ext>
            </a:extLst>
          </p:cNvPr>
          <p:cNvSpPr>
            <a:spLocks noGrp="1"/>
          </p:cNvSpPr>
          <p:nvPr/>
        </p:nvSpPr>
        <p:spPr>
          <a:xfrm>
            <a:off x="6343650" y="5334000"/>
            <a:ext cx="5143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The timeline supports correlation. An event happening before a failure is not enough to establish that it caused the failure.</a:t>
            </a:r>
          </a:p>
        </p:txBody>
      </p:sp>
    </p:spTree>
    <p:extLst>
      <p:ext uri="{BB962C8B-B14F-4D97-AF65-F5344CB8AC3E}">
        <p14:creationId xmlns:p14="http://schemas.microsoft.com/office/powerpoint/2010/main" val="820188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0E956E-31F0-401A-BAE7-3475E68C371C}"/>
              </a:ext>
            </a:extLst>
          </p:cNvPr>
          <p:cNvCxnSpPr>
            <a:stCxn id="11" idx="0"/>
            <a:endCxn id="6" idx="2"/>
          </p:cNvCxnSpPr>
          <p:nvPr/>
        </p:nvCxnSpPr>
        <p:spPr>
          <a:xfrm flipV="1">
            <a:off x="5095875" y="2676525"/>
            <a:ext cx="0" cy="581025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EC0486-328A-41A9-B7CB-FB6B2141B341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2990850" y="3648075"/>
            <a:ext cx="914400" cy="0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99DEE4-B14A-4E73-B80A-B5B67CE766F0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6286500" y="3648075"/>
            <a:ext cx="914400" cy="0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BC2755-D0A2-4F10-A53F-B4985D77AF62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8486775" y="2676525"/>
            <a:ext cx="0" cy="581025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9BFD808-73E2-47CB-8C62-D5B6550820E4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6286500" y="2286000"/>
            <a:ext cx="914400" cy="0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8D2C363-E26E-4222-80CC-CAE9E5CE4AD1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990850" y="2286000"/>
            <a:ext cx="914400" cy="0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B24B2BD9-01F1-42B2-B0A8-103E06C1228D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BOUNDED INVESTIGATION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ECF92D-11C7-4E15-A8C0-93633F0E504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Investigate, reassess, then stop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DD6B78-D3FB-44A4-BEB3-7BE02892118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35E4FC-5A93-4C24-AD5C-286056FF8D06}"/>
              </a:ext>
            </a:extLst>
          </p:cNvPr>
          <p:cNvSpPr>
            <a:spLocks noGrp="1"/>
          </p:cNvSpPr>
          <p:nvPr/>
        </p:nvSpPr>
        <p:spPr>
          <a:xfrm>
            <a:off x="10668000" y="6400800"/>
            <a:ext cx="95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07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48B639-AD5C-46FF-A6EB-1A702DD836FA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2381250" cy="78105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Assess evidence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gaps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549A55-1B22-4C46-821F-4F21D74961B4}"/>
              </a:ext>
            </a:extLst>
          </p:cNvPr>
          <p:cNvSpPr>
            <a:spLocks noGrp="1"/>
          </p:cNvSpPr>
          <p:nvPr/>
        </p:nvSpPr>
        <p:spPr>
          <a:xfrm>
            <a:off x="3905250" y="1895475"/>
            <a:ext cx="2381250" cy="78105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 dirty="0">
                <a:solidFill>
                  <a:srgbClr val="23384B"/>
                </a:solidFill>
                <a:latin typeface="Arial"/>
                <a:ea typeface="Arial"/>
                <a:cs typeface="Arial"/>
              </a:rPr>
              <a:t>Plan supported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 dirty="0">
                <a:solidFill>
                  <a:srgbClr val="23384B"/>
                </a:solidFill>
                <a:latin typeface="Arial"/>
                <a:ea typeface="Arial"/>
                <a:cs typeface="Arial"/>
              </a:rPr>
              <a:t>queries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212F76-67BC-44FC-AE06-82D631623AE0}"/>
              </a:ext>
            </a:extLst>
          </p:cNvPr>
          <p:cNvSpPr>
            <a:spLocks noGrp="1"/>
          </p:cNvSpPr>
          <p:nvPr/>
        </p:nvSpPr>
        <p:spPr>
          <a:xfrm>
            <a:off x="7200900" y="1895475"/>
            <a:ext cx="2571750" cy="78105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Collect &amp; update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CDF0B9-CB36-4610-93A2-966B0FAD2AF2}"/>
              </a:ext>
            </a:extLst>
          </p:cNvPr>
          <p:cNvSpPr>
            <a:spLocks noGrp="1"/>
          </p:cNvSpPr>
          <p:nvPr/>
        </p:nvSpPr>
        <p:spPr>
          <a:xfrm>
            <a:off x="7200900" y="3257550"/>
            <a:ext cx="2571750" cy="78105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Generate and rank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DBE48E-8DA1-4FB9-998E-416F1D8DD1B2}"/>
              </a:ext>
            </a:extLst>
          </p:cNvPr>
          <p:cNvSpPr>
            <a:spLocks noGrp="1"/>
          </p:cNvSpPr>
          <p:nvPr/>
        </p:nvSpPr>
        <p:spPr>
          <a:xfrm>
            <a:off x="3905250" y="3257550"/>
            <a:ext cx="2381250" cy="78105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Evaluate support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and budget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AA3C78-AE94-441A-9696-C389423E22BC}"/>
              </a:ext>
            </a:extLst>
          </p:cNvPr>
          <p:cNvSpPr>
            <a:spLocks noGrp="1"/>
          </p:cNvSpPr>
          <p:nvPr/>
        </p:nvSpPr>
        <p:spPr>
          <a:xfrm>
            <a:off x="609600" y="3257550"/>
            <a:ext cx="2381250" cy="781050"/>
          </a:xfrm>
          <a:prstGeom prst="rect">
            <a:avLst/>
          </a:prstGeom>
          <a:solidFill>
            <a:srgbClr val="087F8C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Supported result</a:t>
            </a:r>
          </a:p>
          <a:p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or inconclusive finish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F5DE01-E19A-4DC0-848A-3E38D7936DC2}"/>
              </a:ext>
            </a:extLst>
          </p:cNvPr>
          <p:cNvSpPr>
            <a:spLocks noGrp="1"/>
          </p:cNvSpPr>
          <p:nvPr/>
        </p:nvSpPr>
        <p:spPr>
          <a:xfrm>
            <a:off x="4000500" y="4286250"/>
            <a:ext cx="714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Repeat when more evidence is needed and the budget permits.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650B7F-8AF1-4BCB-8B45-BBA903A47818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Controlled retrieval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EB6C6D-5B17-412A-B349-3D99375FE809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5143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Adapter capabilities, timeouts and bounded concurrency constrain evidence collection.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165033-F276-45FC-BE19-EF3EE6B71687}"/>
              </a:ext>
            </a:extLst>
          </p:cNvPr>
          <p:cNvSpPr>
            <a:spLocks noGrp="1"/>
          </p:cNvSpPr>
          <p:nvPr/>
        </p:nvSpPr>
        <p:spPr>
          <a:xfrm>
            <a:off x="6343650" y="4981575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Resumable execution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52D3A6-ACAB-43F5-A7D9-BFD95FFB4481}"/>
              </a:ext>
            </a:extLst>
          </p:cNvPr>
          <p:cNvSpPr>
            <a:spLocks noGrp="1"/>
          </p:cNvSpPr>
          <p:nvPr/>
        </p:nvSpPr>
        <p:spPr>
          <a:xfrm>
            <a:off x="6343650" y="5410200"/>
            <a:ext cx="5143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SQLite checkpoints preserve workflow state by incident identifier, enabling an interrupted investigation to resume.</a:t>
            </a:r>
          </a:p>
        </p:txBody>
      </p:sp>
    </p:spTree>
    <p:extLst>
      <p:ext uri="{BB962C8B-B14F-4D97-AF65-F5344CB8AC3E}">
        <p14:creationId xmlns:p14="http://schemas.microsoft.com/office/powerpoint/2010/main" val="1399027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3AAD67-5BA0-463B-B9C1-06966B94CC94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7391400" y="4514850"/>
            <a:ext cx="1447800" cy="0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619A3E-652E-4D44-85B2-021D16E4192A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276600" y="4514850"/>
            <a:ext cx="1447800" cy="0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7E03263-2B35-42D5-86D1-8F640401EF1E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HYPOTHESIS 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C2CD8-92C7-47E5-9F30-6558C935CA6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Rank explanations by evidence support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675BE-7F90-46F9-AB45-DE0C6F7D18A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8FEAF1-83C9-4757-97F5-5DCF9A9DB7FB}"/>
              </a:ext>
            </a:extLst>
          </p:cNvPr>
          <p:cNvSpPr>
            <a:spLocks noGrp="1"/>
          </p:cNvSpPr>
          <p:nvPr/>
        </p:nvSpPr>
        <p:spPr>
          <a:xfrm>
            <a:off x="10668000" y="6400800"/>
            <a:ext cx="95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08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95C013-9530-4C29-B2B3-F3D3E393AA80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Factors that strengthen a cause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9CCCF8-BE58-4EFB-9447-848BED9036AE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143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Independent sources</a:t>
            </a:r>
          </a:p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Symptom coverage</a:t>
            </a:r>
          </a:p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Temporal and change consistency</a:t>
            </a:r>
          </a:p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Specificity and prediction support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518F65-5A4C-492A-A6D8-0B8CE1788765}"/>
              </a:ext>
            </a:extLst>
          </p:cNvPr>
          <p:cNvSpPr>
            <a:spLocks noGrp="1"/>
          </p:cNvSpPr>
          <p:nvPr/>
        </p:nvSpPr>
        <p:spPr>
          <a:xfrm>
            <a:off x="6343650" y="19050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Factors that weaken a cause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354D75-06C9-495A-A54A-5E26157C2140}"/>
              </a:ext>
            </a:extLst>
          </p:cNvPr>
          <p:cNvSpPr>
            <a:spLocks noGrp="1"/>
          </p:cNvSpPr>
          <p:nvPr/>
        </p:nvSpPr>
        <p:spPr>
          <a:xfrm>
            <a:off x="6343650" y="2333625"/>
            <a:ext cx="5143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Contradictory observations</a:t>
            </a:r>
          </a:p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Missing causal links</a:t>
            </a:r>
          </a:p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Explanations supported only by symptoms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9D2CBA-955B-4E8D-8C02-0F4713F949BA}"/>
              </a:ext>
            </a:extLst>
          </p:cNvPr>
          <p:cNvSpPr>
            <a:spLocks noGrp="1"/>
          </p:cNvSpPr>
          <p:nvPr/>
        </p:nvSpPr>
        <p:spPr>
          <a:xfrm>
            <a:off x="609600" y="4086225"/>
            <a:ext cx="2667000" cy="85725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Candidate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CF0AE3-E02C-4A24-990C-E5C34FBA0C06}"/>
              </a:ext>
            </a:extLst>
          </p:cNvPr>
          <p:cNvSpPr>
            <a:spLocks noGrp="1"/>
          </p:cNvSpPr>
          <p:nvPr/>
        </p:nvSpPr>
        <p:spPr>
          <a:xfrm>
            <a:off x="4724400" y="4086225"/>
            <a:ext cx="2667000" cy="85725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Deterministic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evidence scoring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42C70F-9CCB-40B0-BE32-A9AF0FB4F41A}"/>
              </a:ext>
            </a:extLst>
          </p:cNvPr>
          <p:cNvSpPr>
            <a:spLocks noGrp="1"/>
          </p:cNvSpPr>
          <p:nvPr/>
        </p:nvSpPr>
        <p:spPr>
          <a:xfrm>
            <a:off x="8839200" y="4086225"/>
            <a:ext cx="2743200" cy="857250"/>
          </a:xfrm>
          <a:prstGeom prst="rect">
            <a:avLst/>
          </a:prstGeom>
          <a:solidFill>
            <a:srgbClr val="087F8C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Ranked cause +</a:t>
            </a:r>
          </a:p>
          <a:p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references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C87250-3B79-416E-8669-B6E44073C8AF}"/>
              </a:ext>
            </a:extLst>
          </p:cNvPr>
          <p:cNvSpPr>
            <a:spLocks noGrp="1"/>
          </p:cNvSpPr>
          <p:nvPr/>
        </p:nvSpPr>
        <p:spPr>
          <a:xfrm>
            <a:off x="609600" y="5419725"/>
            <a:ext cx="1081087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An evidence score expresses support within the investigation. It is not a calibrated probability of correctness or a measured accuracy percentage.</a:t>
            </a:r>
          </a:p>
        </p:txBody>
      </p:sp>
    </p:spTree>
    <p:extLst>
      <p:ext uri="{BB962C8B-B14F-4D97-AF65-F5344CB8AC3E}">
        <p14:creationId xmlns:p14="http://schemas.microsoft.com/office/powerpoint/2010/main" val="1182128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9F93F7-AF7C-4E06-955D-F8D9DC4D4228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734300" y="2362200"/>
            <a:ext cx="552450" cy="0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AB946F-F56B-40E8-98AF-1DE4DFFA0525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895725" y="2362200"/>
            <a:ext cx="552450" cy="0"/>
          </a:xfrm>
          <a:prstGeom prst="straightConnector1">
            <a:avLst/>
          </a:prstGeom>
          <a:ln w="19050">
            <a:solidFill>
              <a:srgbClr val="087F8C"/>
            </a:solidFill>
            <a:tailEnd type="arrow" w="med" len="me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367E2B5-2E6C-4CBA-B180-4C4AF5689D37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REMEDIATION &amp; HUMAN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8B8192-3F26-4453-9A1E-2E3D0E94D16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Recommendations with explicit safeguards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F26DCA-C7F3-4CF6-8919-268047F651F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5C0F5C-1CA0-4F59-B9F1-15A00A1120CE}"/>
              </a:ext>
            </a:extLst>
          </p:cNvPr>
          <p:cNvSpPr>
            <a:spLocks noGrp="1"/>
          </p:cNvSpPr>
          <p:nvPr/>
        </p:nvSpPr>
        <p:spPr>
          <a:xfrm>
            <a:off x="10668000" y="6400800"/>
            <a:ext cx="95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09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96E7A9-215B-4A05-990B-CDA5119FAF6B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3286125" cy="87630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Proposed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remediation plan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AD96F6-901E-4A62-BBBC-D8CFE0D9CFEA}"/>
              </a:ext>
            </a:extLst>
          </p:cNvPr>
          <p:cNvSpPr>
            <a:spLocks noGrp="1"/>
          </p:cNvSpPr>
          <p:nvPr/>
        </p:nvSpPr>
        <p:spPr>
          <a:xfrm>
            <a:off x="4448175" y="1924050"/>
            <a:ext cx="3286125" cy="876300"/>
          </a:xfrm>
          <a:prstGeom prst="rect">
            <a:avLst/>
          </a:prstGeom>
          <a:solidFill>
            <a:srgbClr val="EEF4F7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Deterministic</a:t>
            </a:r>
          </a:p>
          <a:p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policy checks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EC0C72-8278-4848-8E34-79CDF1E5C749}"/>
              </a:ext>
            </a:extLst>
          </p:cNvPr>
          <p:cNvSpPr>
            <a:spLocks noGrp="1"/>
          </p:cNvSpPr>
          <p:nvPr/>
        </p:nvSpPr>
        <p:spPr>
          <a:xfrm>
            <a:off x="8286750" y="1924050"/>
            <a:ext cx="3286125" cy="876300"/>
          </a:xfrm>
          <a:prstGeom prst="rect">
            <a:avLst/>
          </a:prstGeom>
          <a:solidFill>
            <a:srgbClr val="087F8C"/>
          </a:solidFill>
          <a:ln w="9525">
            <a:solidFill>
              <a:srgbClr val="CBD8E1"/>
            </a:solidFill>
          </a:ln>
        </p:spPr>
        <p:txBody>
          <a:bodyPr wrap="square" lIns="114300" tIns="114300" rIns="114300" bIns="114300" anchor="ctr">
            <a:noAutofit/>
          </a:bodyPr>
          <a:lstStyle>
            <a:def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Recommendation</a:t>
            </a:r>
          </a:p>
          <a:p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human review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965F49-98CF-431C-9A5C-210331111CA7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 useful plan includes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36A1AA-CD70-4C73-8004-D9E3418AF50D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5143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Prerequisites, descriptive steps, expected outcomes, verification, reversal guidance and risk.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C1D4FF-96F7-44C0-99E9-ECD858912464}"/>
              </a:ext>
            </a:extLst>
          </p:cNvPr>
          <p:cNvSpPr>
            <a:spLocks noGrp="1"/>
          </p:cNvSpPr>
          <p:nvPr/>
        </p:nvSpPr>
        <p:spPr>
          <a:xfrm>
            <a:off x="6343650" y="3305175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 policy can withhold advice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411C5B-20C2-4A7F-98AC-EC426C60C604}"/>
              </a:ext>
            </a:extLst>
          </p:cNvPr>
          <p:cNvSpPr>
            <a:spLocks noGrp="1"/>
          </p:cNvSpPr>
          <p:nvPr/>
        </p:nvSpPr>
        <p:spPr>
          <a:xfrm>
            <a:off x="6343650" y="3733800"/>
            <a:ext cx="5143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Low confidence, contradictions, invalid evidence references, sensitive content or an inconclusive investigation can block a plan.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1D1EF9-5A58-4016-A32B-FF594B82DF06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5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Current capability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701B80-EC35-43D4-AD98-0B33C8C854C5}"/>
              </a:ext>
            </a:extLst>
          </p:cNvPr>
          <p:cNvSpPr>
            <a:spLocks noGrp="1"/>
          </p:cNvSpPr>
          <p:nvPr/>
        </p:nvSpPr>
        <p:spPr>
          <a:xfrm>
            <a:off x="609600" y="5514975"/>
            <a:ext cx="1090612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RecoverIT produces advice. It does not execute infrastructure commands, trigger rollback or confirm post-action recovery. The operator reviews and performs any corrective action.</a:t>
            </a:r>
          </a:p>
        </p:txBody>
      </p:sp>
    </p:spTree>
    <p:extLst>
      <p:ext uri="{BB962C8B-B14F-4D97-AF65-F5344CB8AC3E}">
        <p14:creationId xmlns:p14="http://schemas.microsoft.com/office/powerpoint/2010/main" val="2053514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4473FA-729F-4492-B9A8-84DEB20C722E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HARBORSHOP · CONTROLLED FAULT INJECTION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4FA82F-7076-40E9-ABB7-667707924D8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Validation with a separate checkout application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70FA6A-E084-45FC-9D44-35182C7D6A2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759D9C-C6F3-4789-972A-2F9C7C804010}"/>
              </a:ext>
            </a:extLst>
          </p:cNvPr>
          <p:cNvSpPr>
            <a:spLocks noGrp="1"/>
          </p:cNvSpPr>
          <p:nvPr/>
        </p:nvSpPr>
        <p:spPr>
          <a:xfrm>
            <a:off x="10668000" y="6400800"/>
            <a:ext cx="95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10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52D84F-F293-41D5-9DE9-9FBF272A979C}"/>
              </a:ext>
            </a:extLst>
          </p:cNvPr>
          <p:cNvSpPr>
            <a:spLocks noGrp="1"/>
          </p:cNvSpPr>
          <p:nvPr/>
        </p:nvSpPr>
        <p:spPr>
          <a:xfrm>
            <a:off x="609600" y="1781175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We introduced a one-line configuration fault: the SQLite order-storage path was changed from a provisioned directory to a nonexistent directory. The same traffic script exercised both revisions.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8EFFD1-82A8-457C-A226-9C7D69AAC164}"/>
              </a:ext>
            </a:extLst>
          </p:cNvPr>
          <p:cNvGraphicFramePr/>
          <p:nvPr/>
        </p:nvGraphicFramePr>
        <p:xfrm>
          <a:off x="609600" y="2962275"/>
          <a:ext cx="10972800" cy="1914525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4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Observation</a:t>
                      </a:r>
                    </a:p>
                  </a:txBody>
                  <a:tcPr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>
                      <a:solidFill>
                        <a:srgbClr val="CBD8E1"/>
                      </a:solidFill>
                      <a:prstDash val="soli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Healthy revision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>
                      <a:solidFill>
                        <a:srgbClr val="CBD8E1"/>
                      </a:solidFill>
                      <a:prstDash val="soli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Faulty revision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>
                      <a:solidFill>
                        <a:srgbClr val="CBD8E1"/>
                      </a:solidFill>
                      <a:prstDash val="soli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1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15 valid checkout requests</a:t>
                      </a:r>
                    </a:p>
                  </a:txBody>
                  <a:tcPr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15 / 15 returned HTTP 201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15 / 15 returned HTTP 500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Readiness endpoint</a:t>
                      </a:r>
                    </a:p>
                  </a:txBody>
                  <a:tcPr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HTTP 200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HTTP 503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A4CF809-3DBB-47F8-B968-20F7211E38EC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Fault isolation: liveness still returned HTTP 200; invalid checkout requests still returned HTTP 400 in the faulty revision.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979423-2C4E-4956-AF50-DD1A189B458A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Evidence: Git changes · version-controlled configuration · structured logs · readiness · request metrics</a:t>
            </a:r>
          </a:p>
        </p:txBody>
      </p:sp>
    </p:spTree>
    <p:extLst>
      <p:ext uri="{BB962C8B-B14F-4D97-AF65-F5344CB8AC3E}">
        <p14:creationId xmlns:p14="http://schemas.microsoft.com/office/powerpoint/2010/main" val="1397525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4A0B51-209E-4061-ABD6-29D01467673D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OBSERVED INVESTIGATION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17389B-4EEC-47D4-B859-583AA59DF15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The leading diagnosis matched the injected fault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55488B-94B3-4123-8526-B86B3AB4672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33A237-254E-40C0-A465-3B79B9360247}"/>
              </a:ext>
            </a:extLst>
          </p:cNvPr>
          <p:cNvSpPr>
            <a:spLocks noGrp="1"/>
          </p:cNvSpPr>
          <p:nvPr/>
        </p:nvSpPr>
        <p:spPr>
          <a:xfrm>
            <a:off x="10668000" y="6400800"/>
            <a:ext cx="95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11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F44D1F-AC60-42BD-825E-5695EB779E71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4095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16.45 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4FDAF3-99D1-454F-BFF6-6F7A2A21006C}"/>
              </a:ext>
            </a:extLst>
          </p:cNvPr>
          <p:cNvSpPr>
            <a:spLocks noGrp="1"/>
          </p:cNvSpPr>
          <p:nvPr/>
        </p:nvSpPr>
        <p:spPr>
          <a:xfrm>
            <a:off x="609600" y="2657475"/>
            <a:ext cx="4095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Recorded investigation duration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5685D5-73D0-4D69-98F8-594459720328}"/>
              </a:ext>
            </a:extLst>
          </p:cNvPr>
          <p:cNvSpPr>
            <a:spLocks noGrp="1"/>
          </p:cNvSpPr>
          <p:nvPr/>
        </p:nvSpPr>
        <p:spPr>
          <a:xfrm>
            <a:off x="5143500" y="1866900"/>
            <a:ext cx="6381750" cy="1362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The top-ranked explanation identified the order-storage configuration regression. The report connected the change with readiness failures and database-open errors.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837F4F-0E24-4092-ACF0-6142BC7F919C}"/>
              </a:ext>
            </a:extLst>
          </p:cNvPr>
          <p:cNvGraphicFramePr/>
          <p:nvPr/>
        </p:nvGraphicFramePr>
        <p:xfrm>
          <a:off x="609600" y="3543300"/>
          <a:ext cx="10972800" cy="1809750"/>
        </p:xfrm>
        <a:graphic>
          <a:graphicData uri="http://schemas.openxmlformats.org/drawingml/2006/table">
            <a:tbl>
              <a:tblPr/>
              <a:tblGrid>
                <a:gridCol w="823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Ranked explanation</a:t>
                      </a:r>
                    </a:p>
                  </a:txBody>
                  <a:tcPr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>
                      <a:solidFill>
                        <a:srgbClr val="CBD8E1"/>
                      </a:solidFill>
                      <a:prstDash val="soli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score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>
                      <a:solidFill>
                        <a:srgbClr val="CBD8E1"/>
                      </a:solidFill>
                      <a:prstDash val="soli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1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1  Storage-path configuration regression</a:t>
                      </a:r>
                    </a:p>
                  </a:txBody>
                  <a:tcPr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76.45 / 100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2  Infrastructure failure</a:t>
                      </a:r>
                    </a:p>
                  </a:txBody>
                  <a:tcPr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49.70 / 100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 cap="flat" cmpd="sng" algn="ctr">
                      <a:solidFill>
                        <a:srgbClr val="CBD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6EDD7DB6-D1C5-4384-AC07-5839C96342F4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Interpretation: one controlled incident supports end-to-end diagnosis in this setup. These scores are not probabilities; production accuracy, time savings and recovery success were not measured.</a:t>
            </a:r>
          </a:p>
        </p:txBody>
      </p:sp>
    </p:spTree>
    <p:extLst>
      <p:ext uri="{BB962C8B-B14F-4D97-AF65-F5344CB8AC3E}">
        <p14:creationId xmlns:p14="http://schemas.microsoft.com/office/powerpoint/2010/main" val="441435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92D4F4F-3175-411D-A5A1-A6D189084F5E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CONTRIBUTIONS &amp; CURRENT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D4FAFF-72D5-4EB1-AC4B-83A7CE74AD2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What Project I demonstrates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C5B519-6945-4026-BC8E-6A7C2DEAD41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C4E6D4-987B-4A6A-BCFD-1AB662617344}"/>
              </a:ext>
            </a:extLst>
          </p:cNvPr>
          <p:cNvSpPr>
            <a:spLocks noGrp="1"/>
          </p:cNvSpPr>
          <p:nvPr/>
        </p:nvSpPr>
        <p:spPr>
          <a:xfrm>
            <a:off x="10668000" y="6400800"/>
            <a:ext cx="95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12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D78BEB-4D0B-40A2-8922-457CB1776CA6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 working investigation pipeline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F86C7F-C301-421E-B66A-0DD05A842E2B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5143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Configured evidence collection, normalized context, iterative reasoning, ranked hypotheses and a generated investigation report.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077E91-1479-4877-A335-BC6872201051}"/>
              </a:ext>
            </a:extLst>
          </p:cNvPr>
          <p:cNvSpPr>
            <a:spLocks noGrp="1"/>
          </p:cNvSpPr>
          <p:nvPr/>
        </p:nvSpPr>
        <p:spPr>
          <a:xfrm>
            <a:off x="6343650" y="1895475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Evidence-linked explanations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9226EA-95C1-4015-9FBB-FEE2D71DC2A6}"/>
              </a:ext>
            </a:extLst>
          </p:cNvPr>
          <p:cNvSpPr>
            <a:spLocks noGrp="1"/>
          </p:cNvSpPr>
          <p:nvPr/>
        </p:nvSpPr>
        <p:spPr>
          <a:xfrm>
            <a:off x="6343650" y="2324100"/>
            <a:ext cx="5143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The result can be inspected through source references, timeline context and explicit limits on the available evidence.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5B2972-B608-45F3-9D41-7266185F1EAB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 concrete application case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629C02-B203-46F6-B24D-8C205226AF84}"/>
              </a:ext>
            </a:extLst>
          </p:cNvPr>
          <p:cNvSpPr>
            <a:spLocks noGrp="1"/>
          </p:cNvSpPr>
          <p:nvPr/>
        </p:nvSpPr>
        <p:spPr>
          <a:xfrm>
            <a:off x="609600" y="4257675"/>
            <a:ext cx="5143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In HarborShop, the leading diagnosis agreed with the known configuration fault while the application remained partly responsive.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952DFF-A73A-44BC-B77F-778744D15903}"/>
              </a:ext>
            </a:extLst>
          </p:cNvPr>
          <p:cNvSpPr>
            <a:spLocks noGrp="1"/>
          </p:cNvSpPr>
          <p:nvPr/>
        </p:nvSpPr>
        <p:spPr>
          <a:xfrm>
            <a:off x="6343650" y="382905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 clearly bounded prototype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32A61C-839A-458B-A48C-88025A9BAABE}"/>
              </a:ext>
            </a:extLst>
          </p:cNvPr>
          <p:cNvSpPr>
            <a:spLocks noGrp="1"/>
          </p:cNvSpPr>
          <p:nvPr/>
        </p:nvSpPr>
        <p:spPr>
          <a:xfrm>
            <a:off x="6343650" y="4257675"/>
            <a:ext cx="5143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Validation covers a single local incident. Generalization across incident types and operational environments remains to be evaluated.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98A1E5-4948-4C81-AA6D-7E192E5B9CC0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95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The contribution is a coherent, reviewable path from incident evidence to recommended next steps.</a:t>
            </a:r>
          </a:p>
        </p:txBody>
      </p:sp>
    </p:spTree>
    <p:extLst>
      <p:ext uri="{BB962C8B-B14F-4D97-AF65-F5344CB8AC3E}">
        <p14:creationId xmlns:p14="http://schemas.microsoft.com/office/powerpoint/2010/main" val="924675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2E5104-7FF9-42D8-8210-DA8A6EE73A24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FROM PROTOTYPE TO BROADER 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B8127B-655D-452A-B19F-E432F442F54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5E504E-D2B1-47F6-8F7E-D7E2ABB1B8C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1A8981-D7CC-4401-8157-BCB100A54A03}"/>
              </a:ext>
            </a:extLst>
          </p:cNvPr>
          <p:cNvSpPr>
            <a:spLocks noGrp="1"/>
          </p:cNvSpPr>
          <p:nvPr/>
        </p:nvSpPr>
        <p:spPr>
          <a:xfrm>
            <a:off x="10668000" y="6400800"/>
            <a:ext cx="95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2A1E1D-E0EA-4D93-A7D0-A5432BBADDE5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261F85-D448-45FA-BD07-59A0A25773F8}"/>
              </a:ext>
            </a:extLst>
          </p:cNvPr>
          <p:cNvSpPr>
            <a:spLocks noGrp="1"/>
          </p:cNvSpPr>
          <p:nvPr/>
        </p:nvSpPr>
        <p:spPr>
          <a:xfrm>
            <a:off x="1590675" y="1924050"/>
            <a:ext cx="9953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Broaden the incident benchmark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410CAA-BFF2-4C40-B4C7-1204E3798743}"/>
              </a:ext>
            </a:extLst>
          </p:cNvPr>
          <p:cNvSpPr>
            <a:spLocks noGrp="1"/>
          </p:cNvSpPr>
          <p:nvPr/>
        </p:nvSpPr>
        <p:spPr>
          <a:xfrm>
            <a:off x="1590675" y="2352675"/>
            <a:ext cx="9858375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Use labelled faults, missing and contradictory sources, and matched manual or rule-based baselines. Measure ranking, citation quality, abstention, time and provider cost.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EE7F8E-92BE-4C55-93C4-EC2A5546C784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BDD4F6-E1BE-43D7-9E14-8AC3CF3C822D}"/>
              </a:ext>
            </a:extLst>
          </p:cNvPr>
          <p:cNvSpPr>
            <a:spLocks noGrp="1"/>
          </p:cNvSpPr>
          <p:nvPr/>
        </p:nvSpPr>
        <p:spPr>
          <a:xfrm>
            <a:off x="1590675" y="3305175"/>
            <a:ext cx="9953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Strengthen evidence and robustness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3E003F-C635-485B-B35A-5FE55BD16880}"/>
              </a:ext>
            </a:extLst>
          </p:cNvPr>
          <p:cNvSpPr>
            <a:spLocks noGrp="1"/>
          </p:cNvSpPr>
          <p:nvPr/>
        </p:nvSpPr>
        <p:spPr>
          <a:xfrm>
            <a:off x="1590675" y="3733800"/>
            <a:ext cx="9858375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Expand adapters and dependency/change links. Evaluate misleading event sequences, sensitive data and prompt-injection attempts embedded in logs.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206910-1A3C-4DA6-A327-1B4ED178B92B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9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0EF5F3-BEC3-4085-9F5E-0D1730920ADC}"/>
              </a:ext>
            </a:extLst>
          </p:cNvPr>
          <p:cNvSpPr>
            <a:spLocks noGrp="1"/>
          </p:cNvSpPr>
          <p:nvPr/>
        </p:nvSpPr>
        <p:spPr>
          <a:xfrm>
            <a:off x="1590675" y="4686300"/>
            <a:ext cx="9953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Evaluate approved recovery workflows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BC2439-6EBA-402F-A055-73855B0FC299}"/>
              </a:ext>
            </a:extLst>
          </p:cNvPr>
          <p:cNvSpPr>
            <a:spLocks noGrp="1"/>
          </p:cNvSpPr>
          <p:nvPr/>
        </p:nvSpPr>
        <p:spPr>
          <a:xfrm>
            <a:off x="1590675" y="5114925"/>
            <a:ext cx="9858375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Add identity and authorization, explicit human approval, bounded execution, reversal mechanisms and post-action health checks before claiming autonomous recovery.</a:t>
            </a:r>
          </a:p>
        </p:txBody>
      </p:sp>
    </p:spTree>
    <p:extLst>
      <p:ext uri="{BB962C8B-B14F-4D97-AF65-F5344CB8AC3E}">
        <p14:creationId xmlns:p14="http://schemas.microsoft.com/office/powerpoint/2010/main" val="415750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1567</Words>
  <Application>Microsoft Macintosh PowerPoint</Application>
  <DocSecurity>0</DocSecurity>
  <PresentationFormat>Widescreen</PresentationFormat>
  <Paragraphs>230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Office</cp:lastModifiedBy>
  <cp:revision>1</cp:revision>
  <dcterms:created xsi:type="dcterms:W3CDTF">2026-10-19T16:13:57Z</dcterms:created>
  <dcterms:modified xsi:type="dcterms:W3CDTF">2026-10-20T04:16:07Z</dcterms:modified>
</cp:coreProperties>
</file>