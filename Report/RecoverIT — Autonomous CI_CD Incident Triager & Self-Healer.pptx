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bold r:id="rId21"/>
      <p:boldItalic r:id="rId22"/>
    </p:embeddedFont>
    <p:embeddedFont>
      <p:font typeface="JetBrains Mono SemiBold"/>
      <p:regular r:id="rId23"/>
      <p:bold r:id="rId24"/>
      <p:italic r:id="rId25"/>
      <p:boldItalic r:id="rId26"/>
    </p:embeddedFont>
    <p:embeddedFont>
      <p:font typeface="JetBrains Mono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bold.fntdata"/><Relationship Id="rId24" Type="http://schemas.openxmlformats.org/officeDocument/2006/relationships/font" Target="fonts/JetBrainsMonoSemiBold-bold.fntdata"/><Relationship Id="rId23" Type="http://schemas.openxmlformats.org/officeDocument/2006/relationships/font" Target="fonts/JetBrainsMono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SemiBold-boldItalic.fntdata"/><Relationship Id="rId25" Type="http://schemas.openxmlformats.org/officeDocument/2006/relationships/font" Target="fonts/JetBrainsMonoSemiBold-italic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409dfa252ef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409dfa252ef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09dfa252ef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09dfa252ef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09dfa252ef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09dfa252ef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409dfa252ef_4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409dfa252ef_4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09dfa252ef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409dfa252ef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09e4e884dc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09e4e884dc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09dfa252ef_4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09dfa252ef_4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409dfa252ef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409dfa252e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409ec791828_3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409ec791828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09dfa252ef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409dfa252ef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409dfa252ef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409dfa252ef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dfa252ef_5_0)">
  <p:cSld name="Generated (g409dfa252ef_5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" name="Google Shape;5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81525" y="9525"/>
              <a:ext cx="4400700" cy="2495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8" name="Google Shape;58;p14"/>
            <p:cNvGrpSpPr/>
            <p:nvPr/>
          </p:nvGrpSpPr>
          <p:grpSpPr>
            <a:xfrm>
              <a:off x="457200" y="457200"/>
              <a:ext cx="1733700" cy="228600"/>
              <a:chOff x="0" y="0"/>
              <a:chExt cx="1733700" cy="22860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5A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827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 txBox="1"/>
              <p:nvPr/>
            </p:nvSpPr>
            <p:spPr>
              <a:xfrm>
                <a:off x="30480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Recover</a:t>
                </a:r>
                <a:r>
                  <a:rPr b="1" lang="en" sz="1200">
                    <a:solidFill>
                      <a:srgbClr val="0055A4"/>
                    </a:solidFill>
                    <a:latin typeface="Inter"/>
                    <a:ea typeface="Inter"/>
                    <a:cs typeface="Inter"/>
                    <a:sym typeface="Inter"/>
                  </a:rPr>
                  <a:t>IT</a:t>
                </a:r>
                <a:endParaRPr b="1" sz="1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62" name="Google Shape;62;p14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3" name="Google Shape;63;p14"/>
          <p:cNvGrpSpPr/>
          <p:nvPr/>
        </p:nvGrpSpPr>
        <p:grpSpPr>
          <a:xfrm>
            <a:off x="457200" y="990600"/>
            <a:ext cx="8229600" cy="1143000"/>
            <a:chOff x="0" y="0"/>
            <a:chExt cx="8229600" cy="1143000"/>
          </a:xfrm>
        </p:grpSpPr>
        <p:sp>
          <p:nvSpPr>
            <p:cNvPr id="64" name="Google Shape;64;p14"/>
            <p:cNvSpPr txBox="1"/>
            <p:nvPr/>
          </p:nvSpPr>
          <p:spPr>
            <a:xfrm>
              <a:off x="0" y="0"/>
              <a:ext cx="8229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7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RecoverIT — Autonomous CI/CD Incident Triager &amp; Self-Healer</a:t>
              </a:r>
              <a:endParaRPr sz="13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65" name="Google Shape;65;p14"/>
            <p:cNvCxnSpPr/>
            <p:nvPr/>
          </p:nvCxnSpPr>
          <p:spPr>
            <a:xfrm>
              <a:off x="0" y="1014250"/>
              <a:ext cx="11430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0055A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6" name="Google Shape;66;p14"/>
          <p:cNvCxnSpPr/>
          <p:nvPr/>
        </p:nvCxnSpPr>
        <p:spPr>
          <a:xfrm>
            <a:off x="457200" y="4387700"/>
            <a:ext cx="2514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4"/>
          <p:cNvSpPr txBox="1"/>
          <p:nvPr/>
        </p:nvSpPr>
        <p:spPr>
          <a:xfrm>
            <a:off x="527550" y="2222938"/>
            <a:ext cx="8088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Submitted by: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Adwait Pande(23BAI1263)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Suryansh Rai(23BAI1469)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Om Kalpesh Kshirsagar(23BAI1351)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Guidance of: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Dr. Raja 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5"/>
          <p:cNvGrpSpPr/>
          <p:nvPr/>
        </p:nvGrpSpPr>
        <p:grpSpPr>
          <a:xfrm>
            <a:off x="0" y="0"/>
            <a:ext cx="9197460" cy="5143500"/>
            <a:chOff x="0" y="0"/>
            <a:chExt cx="9197460" cy="5143500"/>
          </a:xfrm>
        </p:grpSpPr>
        <p:sp>
          <p:nvSpPr>
            <p:cNvPr id="73" name="Google Shape;73;p15"/>
            <p:cNvSpPr/>
            <p:nvPr/>
          </p:nvSpPr>
          <p:spPr>
            <a:xfrm>
              <a:off x="0" y="0"/>
              <a:ext cx="3048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3048000" y="0"/>
              <a:ext cx="6096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5" name="Google Shape;75;p15"/>
            <p:cNvCxnSpPr/>
            <p:nvPr/>
          </p:nvCxnSpPr>
          <p:spPr>
            <a:xfrm>
              <a:off x="3048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6" name="Google Shape;76;p15"/>
            <p:cNvGrpSpPr/>
            <p:nvPr/>
          </p:nvGrpSpPr>
          <p:grpSpPr>
            <a:xfrm>
              <a:off x="7810500" y="457200"/>
              <a:ext cx="1386960" cy="182880"/>
              <a:chOff x="0" y="0"/>
              <a:chExt cx="1733700" cy="228600"/>
            </a:xfrm>
          </p:grpSpPr>
          <p:sp>
            <p:nvSpPr>
              <p:cNvPr id="77" name="Google Shape;77;p15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5A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827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5"/>
              <p:cNvSpPr txBox="1"/>
              <p:nvPr/>
            </p:nvSpPr>
            <p:spPr>
              <a:xfrm>
                <a:off x="30480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Recover</a:t>
                </a:r>
                <a:r>
                  <a:rPr b="1" lang="en" sz="1200">
                    <a:solidFill>
                      <a:srgbClr val="0055A4"/>
                    </a:solidFill>
                    <a:latin typeface="Inter"/>
                    <a:ea typeface="Inter"/>
                    <a:cs typeface="Inter"/>
                    <a:sym typeface="Inter"/>
                  </a:rPr>
                  <a:t>IT</a:t>
                </a:r>
                <a:endParaRPr b="1" sz="1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80" name="Google Shape;80;p15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1" name="Google Shape;81;p15"/>
          <p:cNvGrpSpPr/>
          <p:nvPr/>
        </p:nvGrpSpPr>
        <p:grpSpPr>
          <a:xfrm>
            <a:off x="457200" y="762000"/>
            <a:ext cx="2133600" cy="2952750"/>
            <a:chOff x="0" y="-381000"/>
            <a:chExt cx="2133600" cy="2952750"/>
          </a:xfrm>
        </p:grpSpPr>
        <p:sp>
          <p:nvSpPr>
            <p:cNvPr id="82" name="Google Shape;82;p15"/>
            <p:cNvSpPr txBox="1"/>
            <p:nvPr/>
          </p:nvSpPr>
          <p:spPr>
            <a:xfrm>
              <a:off x="0" y="-381000"/>
              <a:ext cx="2133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en" sz="12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ARCHITECTURAL PRINCIPLE</a:t>
              </a:r>
              <a:endParaRPr b="0" sz="12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83" name="Google Shape;83;p15"/>
            <p:cNvGrpSpPr/>
            <p:nvPr/>
          </p:nvGrpSpPr>
          <p:grpSpPr>
            <a:xfrm>
              <a:off x="0" y="285750"/>
              <a:ext cx="2066850" cy="2286000"/>
              <a:chOff x="0" y="0"/>
              <a:chExt cx="2066850" cy="2286000"/>
            </a:xfrm>
          </p:grpSpPr>
          <p:cxnSp>
            <p:nvCxnSpPr>
              <p:cNvPr id="84" name="Google Shape;84;p15"/>
              <p:cNvCxnSpPr/>
              <p:nvPr/>
            </p:nvCxnSpPr>
            <p:spPr>
              <a:xfrm>
                <a:off x="0" y="0"/>
                <a:ext cx="0" cy="2095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38100">
                <a:solidFill>
                  <a:srgbClr val="0055A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5" name="Google Shape;85;p15"/>
              <p:cNvSpPr txBox="1"/>
              <p:nvPr/>
            </p:nvSpPr>
            <p:spPr>
              <a:xfrm>
                <a:off x="66750" y="0"/>
                <a:ext cx="20001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50">
                    <a:solidFill>
                      <a:srgbClr val="0055A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"Evidence Before Conclusion"</a:t>
                </a:r>
                <a:endParaRPr b="0" sz="15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175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In our architecture, LLMs act purely in an advisory capacity.</a:t>
                </a:r>
                <a:endParaRPr b="0" sz="117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All queries, citations, and confidence scores are deterministically verified against ground-truth data.</a:t>
                </a:r>
                <a:endParaRPr b="0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6" name="Google Shape;86;p15"/>
          <p:cNvGrpSpPr/>
          <p:nvPr/>
        </p:nvGrpSpPr>
        <p:grpSpPr>
          <a:xfrm>
            <a:off x="3750675" y="490675"/>
            <a:ext cx="4762500" cy="3324225"/>
            <a:chOff x="0" y="0"/>
            <a:chExt cx="4762500" cy="3324225"/>
          </a:xfrm>
        </p:grpSpPr>
        <p:sp>
          <p:nvSpPr>
            <p:cNvPr id="87" name="Google Shape;87;p15"/>
            <p:cNvSpPr txBox="1"/>
            <p:nvPr/>
          </p:nvSpPr>
          <p:spPr>
            <a:xfrm>
              <a:off x="0" y="0"/>
              <a:ext cx="400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6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Problem Statement &amp; Architectural Principles</a:t>
              </a:r>
              <a:endParaRPr b="1" sz="186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8" name="Google Shape;88;p15"/>
            <p:cNvGrpSpPr/>
            <p:nvPr/>
          </p:nvGrpSpPr>
          <p:grpSpPr>
            <a:xfrm>
              <a:off x="0" y="685800"/>
              <a:ext cx="4762500" cy="2000400"/>
              <a:chOff x="0" y="0"/>
              <a:chExt cx="4762500" cy="2000400"/>
            </a:xfrm>
          </p:grpSpPr>
          <p:sp>
            <p:nvSpPr>
              <p:cNvPr id="89" name="Google Shape;89;p15"/>
              <p:cNvSpPr txBox="1"/>
              <p:nvPr/>
            </p:nvSpPr>
            <p:spPr>
              <a:xfrm>
                <a:off x="0" y="0"/>
                <a:ext cx="476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991B1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THE PROBLEM</a:t>
                </a:r>
                <a:endParaRPr b="0" sz="105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90" name="Google Shape;90;p15"/>
              <p:cNvSpPr txBox="1"/>
              <p:nvPr/>
            </p:nvSpPr>
            <p:spPr>
              <a:xfrm>
                <a:off x="47550" y="285900"/>
                <a:ext cx="46674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71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Modern CI/CD and microservice incidents produce significant alert fatigue.</a:t>
                </a:r>
                <a:endParaRPr b="0" sz="1171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171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When applied naively to telemetry, LLMs present critical operational risks:</a:t>
                </a:r>
                <a:endParaRPr b="0" sz="117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2974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4B5563"/>
                  </a:buClr>
                  <a:buSzPts val="1171"/>
                  <a:buFont typeface="Inter"/>
                  <a:buChar char="●"/>
                </a:pPr>
                <a:r>
                  <a:rPr b="0" lang="en" sz="1171">
                    <a:solidFill>
                      <a:srgbClr val="991B1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Hallucinated Causes:</a:t>
                </a:r>
                <a:r>
                  <a:rPr b="0" lang="en" sz="1171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 Generating plausible but incorrect root causes.</a:t>
                </a:r>
                <a:endParaRPr b="0" sz="117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2974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4B5563"/>
                  </a:buClr>
                  <a:buSzPts val="1171"/>
                  <a:buFont typeface="Inter"/>
                  <a:buChar char="●"/>
                </a:pPr>
                <a:r>
                  <a:rPr b="0" lang="en" sz="1171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Prompt Leakage:</a:t>
                </a:r>
                <a:r>
                  <a:rPr b="0" lang="en" sz="1171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 Exposing internal system parameters or sensitive metadata.</a:t>
                </a:r>
                <a:endParaRPr b="0" sz="117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2974" lvl="0" marL="457200" rtl="0" algn="l">
                  <a:spcBef>
                    <a:spcPts val="600"/>
                  </a:spcBef>
                  <a:spcAft>
                    <a:spcPts val="600"/>
                  </a:spcAft>
                  <a:buClr>
                    <a:srgbClr val="4B5563"/>
                  </a:buClr>
                  <a:buSzPts val="1171"/>
                  <a:buFont typeface="Inter"/>
                  <a:buChar char="●"/>
                </a:pPr>
                <a:r>
                  <a:rPr b="0" lang="en" sz="1171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Opaque Reasoning:</a:t>
                </a:r>
                <a:r>
                  <a:rPr b="0" lang="en" sz="1171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 Logic and inference chains that cannot be effectively audited.</a:t>
                </a:r>
                <a:endParaRPr b="0" sz="117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91" name="Google Shape;91;p15"/>
            <p:cNvSpPr/>
            <p:nvPr/>
          </p:nvSpPr>
          <p:spPr>
            <a:xfrm>
              <a:off x="0" y="2714625"/>
              <a:ext cx="38100" cy="609600"/>
            </a:xfrm>
            <a:prstGeom prst="roundRect">
              <a:avLst>
                <a:gd fmla="val 50000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6"/>
          <p:cNvGrpSpPr/>
          <p:nvPr/>
        </p:nvGrpSpPr>
        <p:grpSpPr>
          <a:xfrm>
            <a:off x="457200" y="381000"/>
            <a:ext cx="8359260" cy="4381500"/>
            <a:chOff x="457200" y="381000"/>
            <a:chExt cx="8359260" cy="4381500"/>
          </a:xfrm>
        </p:grpSpPr>
        <p:grpSp>
          <p:nvGrpSpPr>
            <p:cNvPr id="97" name="Google Shape;97;p16"/>
            <p:cNvGrpSpPr/>
            <p:nvPr/>
          </p:nvGrpSpPr>
          <p:grpSpPr>
            <a:xfrm>
              <a:off x="7429500" y="381000"/>
              <a:ext cx="1386960" cy="182880"/>
              <a:chOff x="0" y="0"/>
              <a:chExt cx="1733700" cy="228600"/>
            </a:xfrm>
          </p:grpSpPr>
          <p:sp>
            <p:nvSpPr>
              <p:cNvPr id="98" name="Google Shape;98;p16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5A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6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827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6"/>
              <p:cNvSpPr txBox="1"/>
              <p:nvPr/>
            </p:nvSpPr>
            <p:spPr>
              <a:xfrm>
                <a:off x="30480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Recover</a:t>
                </a:r>
                <a:r>
                  <a:rPr b="1" lang="en" sz="1200">
                    <a:solidFill>
                      <a:srgbClr val="0055A4"/>
                    </a:solidFill>
                    <a:latin typeface="Inter"/>
                    <a:ea typeface="Inter"/>
                    <a:cs typeface="Inter"/>
                    <a:sym typeface="Inter"/>
                  </a:rPr>
                  <a:t>IT</a:t>
                </a:r>
                <a:endParaRPr b="1" sz="1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101" name="Google Shape;101;p16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2" name="Google Shape;102;p16"/>
          <p:cNvSpPr txBox="1"/>
          <p:nvPr/>
        </p:nvSpPr>
        <p:spPr>
          <a:xfrm>
            <a:off x="457200" y="38100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Three-Person Work Division &amp; Executable Modules</a:t>
            </a:r>
            <a:endParaRPr b="1" sz="21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0" lang="en" sz="120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Mid-Term Project Scope &amp; Implementation Boundaries</a:t>
            </a:r>
            <a:endParaRPr b="0" sz="1200">
              <a:solidFill>
                <a:srgbClr val="0055A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03" name="Google Shape;103;p16"/>
          <p:cNvGrpSpPr/>
          <p:nvPr/>
        </p:nvGrpSpPr>
        <p:grpSpPr>
          <a:xfrm>
            <a:off x="457200" y="1143000"/>
            <a:ext cx="2514600" cy="3166047"/>
            <a:chOff x="0" y="0"/>
            <a:chExt cx="2514600" cy="2686050"/>
          </a:xfrm>
        </p:grpSpPr>
        <p:cxnSp>
          <p:nvCxnSpPr>
            <p:cNvPr id="104" name="Google Shape;104;p16"/>
            <p:cNvCxnSpPr/>
            <p:nvPr/>
          </p:nvCxnSpPr>
          <p:spPr>
            <a:xfrm>
              <a:off x="0" y="0"/>
              <a:ext cx="2514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" name="Google Shape;105;p16"/>
            <p:cNvSpPr/>
            <p:nvPr/>
          </p:nvSpPr>
          <p:spPr>
            <a:xfrm>
              <a:off x="0" y="19050"/>
              <a:ext cx="2514600" cy="26670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0" y="142880"/>
              <a:ext cx="2514600" cy="24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PERSON 1</a:t>
              </a:r>
              <a:endParaRPr b="0" sz="9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55A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collectors/, ingestion/</a:t>
              </a:r>
              <a:endParaRPr b="0" sz="1100">
                <a:solidFill>
                  <a:srgbClr val="0055A4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-303213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B5563"/>
                </a:buClr>
                <a:buSzPts val="1175"/>
                <a:buFont typeface="Inter"/>
                <a:buChar char="●"/>
              </a:pPr>
              <a:r>
                <a:rPr b="1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Ingestion service</a:t>
              </a:r>
              <a:r>
                <a:rPr b="0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setup &amp; orchestration</a:t>
              </a:r>
              <a:endParaRPr b="0" sz="11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3213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175"/>
                <a:buFont typeface="Inter"/>
                <a:buChar char="●"/>
              </a:pPr>
              <a:r>
                <a:rPr b="1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Source Capability Catalog</a:t>
              </a:r>
              <a:r>
                <a:rPr b="0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implementation</a:t>
              </a:r>
              <a:endParaRPr b="0" sz="11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3213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175"/>
                <a:buFont typeface="Inter"/>
                <a:buChar char="●"/>
              </a:pPr>
              <a:r>
                <a:rPr b="1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6 Source Adapters:</a:t>
              </a:r>
              <a:r>
                <a:rPr b="0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Git, Logs, Metrics, Deployments, Pipelines, Configs</a:t>
              </a:r>
              <a:endParaRPr b="0" sz="11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3213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B5563"/>
                </a:buClr>
                <a:buSzPts val="1175"/>
                <a:buFont typeface="Inter"/>
                <a:buChar char="●"/>
              </a:pPr>
              <a:r>
                <a:rPr b="0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Strict query-parameter filtering protocols</a:t>
              </a:r>
              <a:endParaRPr b="0" sz="11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3314700" y="1143000"/>
            <a:ext cx="2514600" cy="3166047"/>
            <a:chOff x="0" y="0"/>
            <a:chExt cx="2514600" cy="2686050"/>
          </a:xfrm>
        </p:grpSpPr>
        <p:cxnSp>
          <p:nvCxnSpPr>
            <p:cNvPr id="108" name="Google Shape;108;p16"/>
            <p:cNvCxnSpPr/>
            <p:nvPr/>
          </p:nvCxnSpPr>
          <p:spPr>
            <a:xfrm>
              <a:off x="0" y="0"/>
              <a:ext cx="2514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" name="Google Shape;109;p16"/>
            <p:cNvSpPr/>
            <p:nvPr/>
          </p:nvSpPr>
          <p:spPr>
            <a:xfrm>
              <a:off x="0" y="19050"/>
              <a:ext cx="2514600" cy="26670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152400" y="152400"/>
              <a:ext cx="2209800" cy="24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PERSON 2</a:t>
              </a:r>
              <a:endParaRPr b="0" sz="9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55A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evidence/, timeline/</a:t>
              </a:r>
              <a:endParaRPr b="0" sz="1100">
                <a:solidFill>
                  <a:srgbClr val="0055A4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-303213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B5563"/>
                </a:buClr>
                <a:buSzPts val="1175"/>
                <a:buFont typeface="Inter"/>
                <a:buChar char="●"/>
              </a:pPr>
              <a:r>
                <a:rPr b="0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Canonical schema normalization framework</a:t>
              </a:r>
              <a:endParaRPr b="0" sz="11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3213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175"/>
                <a:buFont typeface="Inter"/>
                <a:buChar char="●"/>
              </a:pPr>
              <a:r>
                <a:rPr b="0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Regex-based secret scrubbing (tokens/keys)</a:t>
              </a:r>
              <a:endParaRPr b="0" sz="11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3213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175"/>
                <a:buFont typeface="Inter"/>
                <a:buChar char="●"/>
              </a:pPr>
              <a:r>
                <a:rPr b="1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SHA-256 evidence fingerprinting</a:t>
              </a:r>
              <a:r>
                <a:rPr b="0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for integrity</a:t>
              </a:r>
              <a:endParaRPr b="0" sz="11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3213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B5563"/>
                </a:buClr>
                <a:buSzPts val="1175"/>
                <a:buFont typeface="Inter"/>
                <a:buChar char="●"/>
              </a:pPr>
              <a:r>
                <a:rPr b="0" lang="en" sz="11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Chronological timeline builder module</a:t>
              </a:r>
              <a:endParaRPr b="0" sz="11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6172200" y="1143000"/>
            <a:ext cx="2514600" cy="3166047"/>
            <a:chOff x="0" y="0"/>
            <a:chExt cx="2514600" cy="2686050"/>
          </a:xfrm>
        </p:grpSpPr>
        <p:cxnSp>
          <p:nvCxnSpPr>
            <p:cNvPr id="112" name="Google Shape;112;p16"/>
            <p:cNvCxnSpPr/>
            <p:nvPr/>
          </p:nvCxnSpPr>
          <p:spPr>
            <a:xfrm>
              <a:off x="0" y="0"/>
              <a:ext cx="2514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" name="Google Shape;113;p16"/>
            <p:cNvSpPr/>
            <p:nvPr/>
          </p:nvSpPr>
          <p:spPr>
            <a:xfrm>
              <a:off x="0" y="19050"/>
              <a:ext cx="2514600" cy="26670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152400" y="152400"/>
              <a:ext cx="2209800" cy="24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PERSON 3</a:t>
              </a:r>
              <a:endParaRPr b="0" sz="9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25">
                  <a:solidFill>
                    <a:srgbClr val="0055A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investigation/, reasoning/, benchmarks/</a:t>
              </a:r>
              <a:endParaRPr b="0" sz="1025">
                <a:solidFill>
                  <a:srgbClr val="0055A4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9-state orchestration machine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&amp; dynamic gap planner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Pluggable LLM gateway (Ollama/Gemini/OpenAI)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Semantic hypothesis deduplicator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Anti-hallucination citation validator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B5563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Ground-truth benchmark suite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1525" y="9525"/>
            <a:ext cx="4400700" cy="249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17"/>
          <p:cNvGrpSpPr/>
          <p:nvPr/>
        </p:nvGrpSpPr>
        <p:grpSpPr>
          <a:xfrm>
            <a:off x="457200" y="457200"/>
            <a:ext cx="1733700" cy="228600"/>
            <a:chOff x="0" y="0"/>
            <a:chExt cx="1733700" cy="228600"/>
          </a:xfrm>
        </p:grpSpPr>
        <p:sp>
          <p:nvSpPr>
            <p:cNvPr id="122" name="Google Shape;122;p17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55A4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827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304800" y="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Recover</a:t>
              </a:r>
              <a:r>
                <a:rPr b="1" lang="en" sz="1200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IT</a:t>
              </a:r>
              <a:endParaRPr b="1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5" name="Google Shape;125;p17"/>
          <p:cNvSpPr txBox="1"/>
          <p:nvPr/>
        </p:nvSpPr>
        <p:spPr>
          <a:xfrm>
            <a:off x="457200" y="152400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System Workflow </a:t>
            </a:r>
            <a:endParaRPr b="1" sz="315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" sz="31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&amp; Automated Triage</a:t>
            </a:r>
            <a:endParaRPr b="0" sz="1650">
              <a:solidFill>
                <a:srgbClr val="0055A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126" name="Google Shape;126;p17"/>
          <p:cNvCxnSpPr/>
          <p:nvPr/>
        </p:nvCxnSpPr>
        <p:spPr>
          <a:xfrm>
            <a:off x="457200" y="3333750"/>
            <a:ext cx="1143000" cy="0"/>
          </a:xfrm>
          <a:prstGeom prst="straightConnector1">
            <a:avLst/>
          </a:prstGeom>
          <a:solidFill>
            <a:srgbClr val="FFFFFF"/>
          </a:solidFill>
          <a:ln cap="rnd" cmpd="sng" w="38100">
            <a:solidFill>
              <a:srgbClr val="0055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7"/>
          <p:cNvCxnSpPr/>
          <p:nvPr/>
        </p:nvCxnSpPr>
        <p:spPr>
          <a:xfrm>
            <a:off x="457200" y="466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8"/>
          <p:cNvGrpSpPr/>
          <p:nvPr/>
        </p:nvGrpSpPr>
        <p:grpSpPr>
          <a:xfrm>
            <a:off x="7239000" y="381000"/>
            <a:ext cx="1386960" cy="182880"/>
            <a:chOff x="0" y="0"/>
            <a:chExt cx="1733700" cy="228600"/>
          </a:xfrm>
        </p:grpSpPr>
        <p:sp>
          <p:nvSpPr>
            <p:cNvPr id="133" name="Google Shape;133;p18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55A4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827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304800" y="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1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Recover</a:t>
              </a:r>
              <a:r>
                <a:rPr b="1" lang="en" sz="1200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IT</a:t>
              </a:r>
              <a:endParaRPr b="1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36" name="Google Shape;136;p18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8"/>
          <p:cNvSpPr txBox="1"/>
          <p:nvPr/>
        </p:nvSpPr>
        <p:spPr>
          <a:xfrm>
            <a:off x="457200" y="381000"/>
            <a:ext cx="647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End-to-End Investigation Workflow</a:t>
            </a:r>
            <a:endParaRPr b="1" sz="195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0" lang="en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DATA FLOW &amp; EXECUTION BOUNDARIES</a:t>
            </a:r>
            <a:endParaRPr b="0" sz="750">
              <a:solidFill>
                <a:srgbClr val="0055A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138" name="Google Shape;138;p18"/>
          <p:cNvCxnSpPr/>
          <p:nvPr/>
        </p:nvCxnSpPr>
        <p:spPr>
          <a:xfrm>
            <a:off x="457200" y="8763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9" name="Google Shape;139;p18"/>
          <p:cNvGrpSpPr/>
          <p:nvPr/>
        </p:nvGrpSpPr>
        <p:grpSpPr>
          <a:xfrm>
            <a:off x="457200" y="1009650"/>
            <a:ext cx="4930445" cy="3562350"/>
            <a:chOff x="0" y="0"/>
            <a:chExt cx="4572000" cy="3562350"/>
          </a:xfrm>
        </p:grpSpPr>
        <p:sp>
          <p:nvSpPr>
            <p:cNvPr id="140" name="Google Shape;140;p18"/>
            <p:cNvSpPr/>
            <p:nvPr/>
          </p:nvSpPr>
          <p:spPr>
            <a:xfrm>
              <a:off x="0" y="0"/>
              <a:ext cx="4572000" cy="2667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114300" y="57150"/>
              <a:ext cx="434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en" sz="7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FLOW (9-STATE MACHINE)</a:t>
              </a:r>
              <a:endParaRPr b="0" sz="7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42" name="Google Shape;142;p18"/>
            <p:cNvGrpSpPr/>
            <p:nvPr/>
          </p:nvGrpSpPr>
          <p:grpSpPr>
            <a:xfrm>
              <a:off x="0" y="361950"/>
              <a:ext cx="4572000" cy="304800"/>
              <a:chOff x="0" y="0"/>
              <a:chExt cx="4572000" cy="304800"/>
            </a:xfrm>
          </p:grpSpPr>
          <p:sp>
            <p:nvSpPr>
              <p:cNvPr id="143" name="Google Shape;143;p18"/>
              <p:cNvSpPr/>
              <p:nvPr/>
            </p:nvSpPr>
            <p:spPr>
              <a:xfrm>
                <a:off x="0" y="0"/>
                <a:ext cx="45720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8"/>
              <p:cNvSpPr/>
              <p:nvPr/>
            </p:nvSpPr>
            <p:spPr>
              <a:xfrm>
                <a:off x="0" y="0"/>
                <a:ext cx="38100" cy="304800"/>
              </a:xfrm>
              <a:prstGeom prst="rect">
                <a:avLst/>
              </a:prstGeom>
              <a:solidFill>
                <a:srgbClr val="0055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8"/>
              <p:cNvSpPr txBox="1"/>
              <p:nvPr/>
            </p:nvSpPr>
            <p:spPr>
              <a:xfrm>
                <a:off x="15240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01. </a:t>
                </a:r>
                <a:r>
                  <a:rPr b="0" lang="en" sz="825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INCIDENT_DETECTED</a:t>
                </a:r>
                <a:endParaRPr/>
              </a:p>
            </p:txBody>
          </p:sp>
        </p:grpSp>
        <p:cxnSp>
          <p:nvCxnSpPr>
            <p:cNvPr id="146" name="Google Shape;146;p18"/>
            <p:cNvCxnSpPr/>
            <p:nvPr/>
          </p:nvCxnSpPr>
          <p:spPr>
            <a:xfrm>
              <a:off x="2286000" y="666750"/>
              <a:ext cx="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55A4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7" name="Google Shape;147;p18"/>
            <p:cNvGrpSpPr/>
            <p:nvPr/>
          </p:nvGrpSpPr>
          <p:grpSpPr>
            <a:xfrm>
              <a:off x="0" y="723900"/>
              <a:ext cx="4572000" cy="304800"/>
              <a:chOff x="0" y="0"/>
              <a:chExt cx="4572000" cy="304800"/>
            </a:xfrm>
          </p:grpSpPr>
          <p:sp>
            <p:nvSpPr>
              <p:cNvPr id="148" name="Google Shape;148;p18"/>
              <p:cNvSpPr/>
              <p:nvPr/>
            </p:nvSpPr>
            <p:spPr>
              <a:xfrm>
                <a:off x="0" y="0"/>
                <a:ext cx="45720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8"/>
              <p:cNvSpPr txBox="1"/>
              <p:nvPr/>
            </p:nvSpPr>
            <p:spPr>
              <a:xfrm>
                <a:off x="15240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02. </a:t>
                </a:r>
                <a:r>
                  <a:rPr b="0" lang="en" sz="825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GAP_ASSESSMENT</a:t>
                </a:r>
                <a:endParaRPr/>
              </a:p>
            </p:txBody>
          </p:sp>
        </p:grpSp>
        <p:cxnSp>
          <p:nvCxnSpPr>
            <p:cNvPr id="150" name="Google Shape;150;p18"/>
            <p:cNvCxnSpPr/>
            <p:nvPr/>
          </p:nvCxnSpPr>
          <p:spPr>
            <a:xfrm>
              <a:off x="2286000" y="1028700"/>
              <a:ext cx="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B556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1" name="Google Shape;151;p18"/>
            <p:cNvGrpSpPr/>
            <p:nvPr/>
          </p:nvGrpSpPr>
          <p:grpSpPr>
            <a:xfrm>
              <a:off x="0" y="1085850"/>
              <a:ext cx="4572000" cy="304800"/>
              <a:chOff x="0" y="0"/>
              <a:chExt cx="4572000" cy="304800"/>
            </a:xfrm>
          </p:grpSpPr>
          <p:sp>
            <p:nvSpPr>
              <p:cNvPr id="152" name="Google Shape;152;p18"/>
              <p:cNvSpPr/>
              <p:nvPr/>
            </p:nvSpPr>
            <p:spPr>
              <a:xfrm>
                <a:off x="0" y="0"/>
                <a:ext cx="45720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8"/>
              <p:cNvSpPr txBox="1"/>
              <p:nvPr/>
            </p:nvSpPr>
            <p:spPr>
              <a:xfrm>
                <a:off x="15240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03. </a:t>
                </a:r>
                <a:r>
                  <a:rPr b="0" lang="en" sz="825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QUERY_PLANNING</a:t>
                </a:r>
                <a:endParaRPr/>
              </a:p>
            </p:txBody>
          </p:sp>
        </p:grpSp>
        <p:cxnSp>
          <p:nvCxnSpPr>
            <p:cNvPr id="154" name="Google Shape;154;p18"/>
            <p:cNvCxnSpPr/>
            <p:nvPr/>
          </p:nvCxnSpPr>
          <p:spPr>
            <a:xfrm>
              <a:off x="2286000" y="1390650"/>
              <a:ext cx="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B556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5" name="Google Shape;155;p18"/>
            <p:cNvGrpSpPr/>
            <p:nvPr/>
          </p:nvGrpSpPr>
          <p:grpSpPr>
            <a:xfrm>
              <a:off x="0" y="1447800"/>
              <a:ext cx="4572000" cy="304800"/>
              <a:chOff x="0" y="0"/>
              <a:chExt cx="4572000" cy="304800"/>
            </a:xfrm>
          </p:grpSpPr>
          <p:sp>
            <p:nvSpPr>
              <p:cNvPr id="156" name="Google Shape;156;p18"/>
              <p:cNvSpPr/>
              <p:nvPr/>
            </p:nvSpPr>
            <p:spPr>
              <a:xfrm>
                <a:off x="0" y="0"/>
                <a:ext cx="45720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8"/>
              <p:cNvSpPr txBox="1"/>
              <p:nvPr/>
            </p:nvSpPr>
            <p:spPr>
              <a:xfrm>
                <a:off x="15240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04. </a:t>
                </a:r>
                <a:r>
                  <a:rPr b="0" lang="en" sz="825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DATA_COLLECTION</a:t>
                </a:r>
                <a:endParaRPr/>
              </a:p>
            </p:txBody>
          </p:sp>
        </p:grpSp>
        <p:cxnSp>
          <p:nvCxnSpPr>
            <p:cNvPr id="158" name="Google Shape;158;p18"/>
            <p:cNvCxnSpPr/>
            <p:nvPr/>
          </p:nvCxnSpPr>
          <p:spPr>
            <a:xfrm>
              <a:off x="2286000" y="1752600"/>
              <a:ext cx="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B556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9" name="Google Shape;159;p18"/>
            <p:cNvGrpSpPr/>
            <p:nvPr/>
          </p:nvGrpSpPr>
          <p:grpSpPr>
            <a:xfrm>
              <a:off x="0" y="1809750"/>
              <a:ext cx="4572000" cy="304800"/>
              <a:chOff x="0" y="0"/>
              <a:chExt cx="4572000" cy="304800"/>
            </a:xfrm>
          </p:grpSpPr>
          <p:sp>
            <p:nvSpPr>
              <p:cNvPr id="160" name="Google Shape;160;p18"/>
              <p:cNvSpPr/>
              <p:nvPr/>
            </p:nvSpPr>
            <p:spPr>
              <a:xfrm>
                <a:off x="0" y="0"/>
                <a:ext cx="45720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8"/>
              <p:cNvSpPr txBox="1"/>
              <p:nvPr/>
            </p:nvSpPr>
            <p:spPr>
              <a:xfrm>
                <a:off x="15240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05. </a:t>
                </a:r>
                <a:r>
                  <a:rPr b="0" lang="en" sz="825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TIMELINE_RECONSTRUCTION</a:t>
                </a:r>
                <a:endParaRPr/>
              </a:p>
            </p:txBody>
          </p:sp>
        </p:grpSp>
        <p:cxnSp>
          <p:nvCxnSpPr>
            <p:cNvPr id="162" name="Google Shape;162;p18"/>
            <p:cNvCxnSpPr/>
            <p:nvPr/>
          </p:nvCxnSpPr>
          <p:spPr>
            <a:xfrm>
              <a:off x="2286000" y="2114550"/>
              <a:ext cx="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B556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3" name="Google Shape;163;p18"/>
            <p:cNvGrpSpPr/>
            <p:nvPr/>
          </p:nvGrpSpPr>
          <p:grpSpPr>
            <a:xfrm>
              <a:off x="0" y="2171700"/>
              <a:ext cx="4572000" cy="304800"/>
              <a:chOff x="0" y="0"/>
              <a:chExt cx="4572000" cy="304800"/>
            </a:xfrm>
          </p:grpSpPr>
          <p:sp>
            <p:nvSpPr>
              <p:cNvPr id="164" name="Google Shape;164;p18"/>
              <p:cNvSpPr/>
              <p:nvPr/>
            </p:nvSpPr>
            <p:spPr>
              <a:xfrm>
                <a:off x="0" y="0"/>
                <a:ext cx="45720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8"/>
              <p:cNvSpPr txBox="1"/>
              <p:nvPr/>
            </p:nvSpPr>
            <p:spPr>
              <a:xfrm>
                <a:off x="15240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06. </a:t>
                </a:r>
                <a:r>
                  <a:rPr b="0" lang="en" sz="825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HYPOTHESIS_GENERATION</a:t>
                </a:r>
                <a:endParaRPr/>
              </a:p>
            </p:txBody>
          </p:sp>
        </p:grpSp>
        <p:cxnSp>
          <p:nvCxnSpPr>
            <p:cNvPr id="166" name="Google Shape;166;p18"/>
            <p:cNvCxnSpPr/>
            <p:nvPr/>
          </p:nvCxnSpPr>
          <p:spPr>
            <a:xfrm>
              <a:off x="2286000" y="2476500"/>
              <a:ext cx="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B556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7" name="Google Shape;167;p18"/>
            <p:cNvGrpSpPr/>
            <p:nvPr/>
          </p:nvGrpSpPr>
          <p:grpSpPr>
            <a:xfrm>
              <a:off x="0" y="2533650"/>
              <a:ext cx="4572000" cy="304800"/>
              <a:chOff x="0" y="0"/>
              <a:chExt cx="4572000" cy="304800"/>
            </a:xfrm>
          </p:grpSpPr>
          <p:sp>
            <p:nvSpPr>
              <p:cNvPr id="168" name="Google Shape;168;p18"/>
              <p:cNvSpPr/>
              <p:nvPr/>
            </p:nvSpPr>
            <p:spPr>
              <a:xfrm>
                <a:off x="0" y="0"/>
                <a:ext cx="45720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8"/>
              <p:cNvSpPr txBox="1"/>
              <p:nvPr/>
            </p:nvSpPr>
            <p:spPr>
              <a:xfrm>
                <a:off x="15240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07. </a:t>
                </a:r>
                <a:r>
                  <a:rPr b="0" lang="en" sz="825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CITATION_VALIDATION</a:t>
                </a:r>
                <a:endParaRPr/>
              </a:p>
            </p:txBody>
          </p:sp>
        </p:grpSp>
        <p:cxnSp>
          <p:nvCxnSpPr>
            <p:cNvPr id="170" name="Google Shape;170;p18"/>
            <p:cNvCxnSpPr/>
            <p:nvPr/>
          </p:nvCxnSpPr>
          <p:spPr>
            <a:xfrm>
              <a:off x="2286000" y="2838450"/>
              <a:ext cx="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B556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1" name="Google Shape;171;p18"/>
            <p:cNvGrpSpPr/>
            <p:nvPr/>
          </p:nvGrpSpPr>
          <p:grpSpPr>
            <a:xfrm>
              <a:off x="0" y="2895600"/>
              <a:ext cx="4572000" cy="304800"/>
              <a:chOff x="0" y="0"/>
              <a:chExt cx="4572000" cy="304800"/>
            </a:xfrm>
          </p:grpSpPr>
          <p:sp>
            <p:nvSpPr>
              <p:cNvPr id="172" name="Google Shape;172;p18"/>
              <p:cNvSpPr/>
              <p:nvPr/>
            </p:nvSpPr>
            <p:spPr>
              <a:xfrm>
                <a:off x="0" y="0"/>
                <a:ext cx="45720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8"/>
              <p:cNvSpPr txBox="1"/>
              <p:nvPr/>
            </p:nvSpPr>
            <p:spPr>
              <a:xfrm>
                <a:off x="15240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08. </a:t>
                </a:r>
                <a:r>
                  <a:rPr b="0" lang="en" sz="825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HYPOTHESIS_RANKING</a:t>
                </a:r>
                <a:endParaRPr/>
              </a:p>
            </p:txBody>
          </p:sp>
        </p:grpSp>
        <p:cxnSp>
          <p:nvCxnSpPr>
            <p:cNvPr id="174" name="Google Shape;174;p18"/>
            <p:cNvCxnSpPr/>
            <p:nvPr/>
          </p:nvCxnSpPr>
          <p:spPr>
            <a:xfrm>
              <a:off x="2286000" y="3200400"/>
              <a:ext cx="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66534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5" name="Google Shape;175;p18"/>
            <p:cNvGrpSpPr/>
            <p:nvPr/>
          </p:nvGrpSpPr>
          <p:grpSpPr>
            <a:xfrm>
              <a:off x="0" y="3257550"/>
              <a:ext cx="4572000" cy="304800"/>
              <a:chOff x="0" y="0"/>
              <a:chExt cx="4572000" cy="304800"/>
            </a:xfrm>
          </p:grpSpPr>
          <p:sp>
            <p:nvSpPr>
              <p:cNvPr id="176" name="Google Shape;176;p18"/>
              <p:cNvSpPr/>
              <p:nvPr/>
            </p:nvSpPr>
            <p:spPr>
              <a:xfrm>
                <a:off x="0" y="0"/>
                <a:ext cx="45720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8F9FA"/>
              </a:solidFill>
              <a:ln cap="flat" cmpd="sng" w="14300">
                <a:solidFill>
                  <a:srgbClr val="16653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8"/>
              <p:cNvSpPr/>
              <p:nvPr/>
            </p:nvSpPr>
            <p:spPr>
              <a:xfrm>
                <a:off x="0" y="0"/>
                <a:ext cx="38100" cy="304800"/>
              </a:xfrm>
              <a:prstGeom prst="rect">
                <a:avLst/>
              </a:prstGeom>
              <a:solidFill>
                <a:srgbClr val="1665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8"/>
              <p:cNvSpPr txBox="1"/>
              <p:nvPr/>
            </p:nvSpPr>
            <p:spPr>
              <a:xfrm>
                <a:off x="15240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" sz="825">
                    <a:solidFill>
                      <a:srgbClr val="16653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09. </a:t>
                </a:r>
                <a:r>
                  <a:rPr b="0" lang="en" sz="825">
                    <a:solidFill>
                      <a:srgbClr val="166534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INVESTIGATION_COMPLETE</a:t>
                </a:r>
                <a:endParaRPr/>
              </a:p>
            </p:txBody>
          </p:sp>
        </p:grpSp>
      </p:grpSp>
      <p:cxnSp>
        <p:nvCxnSpPr>
          <p:cNvPr id="179" name="Google Shape;179;p18"/>
          <p:cNvCxnSpPr/>
          <p:nvPr/>
        </p:nvCxnSpPr>
        <p:spPr>
          <a:xfrm>
            <a:off x="5295900" y="1009650"/>
            <a:ext cx="0" cy="35622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19"/>
          <p:cNvGrpSpPr/>
          <p:nvPr/>
        </p:nvGrpSpPr>
        <p:grpSpPr>
          <a:xfrm>
            <a:off x="7810500" y="342900"/>
            <a:ext cx="1181100" cy="209550"/>
            <a:chOff x="0" y="-38100"/>
            <a:chExt cx="1181100" cy="209550"/>
          </a:xfrm>
        </p:grpSpPr>
        <p:sp>
          <p:nvSpPr>
            <p:cNvPr id="186" name="Google Shape;186;p19"/>
            <p:cNvSpPr/>
            <p:nvPr/>
          </p:nvSpPr>
          <p:spPr>
            <a:xfrm>
              <a:off x="0" y="0"/>
              <a:ext cx="114300" cy="114300"/>
            </a:xfrm>
            <a:prstGeom prst="rect">
              <a:avLst/>
            </a:prstGeom>
            <a:solidFill>
              <a:srgbClr val="0055A4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57150" y="57150"/>
              <a:ext cx="114300" cy="114300"/>
            </a:xfrm>
            <a:prstGeom prst="rect">
              <a:avLst/>
            </a:prstGeom>
            <a:solidFill>
              <a:srgbClr val="111827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228600" y="-3810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Recover</a:t>
              </a:r>
              <a:r>
                <a:rPr b="1" lang="en" sz="1000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IT</a:t>
              </a:r>
              <a:endParaRPr b="1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9" name="Google Shape;189;p19"/>
          <p:cNvSpPr txBox="1"/>
          <p:nvPr/>
        </p:nvSpPr>
        <p:spPr>
          <a:xfrm>
            <a:off x="457200" y="3429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Benchmark Test Case: Input vs. Output</a:t>
            </a:r>
            <a:endParaRPr b="1" sz="20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SIMULATED ALERT TELEMETRY &amp; AUTONOMOUS TRIAGE ARTIFACTS</a:t>
            </a:r>
            <a:endParaRPr b="0" sz="750">
              <a:solidFill>
                <a:srgbClr val="0055A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190" name="Google Shape;190;p19"/>
          <p:cNvCxnSpPr/>
          <p:nvPr/>
        </p:nvCxnSpPr>
        <p:spPr>
          <a:xfrm>
            <a:off x="457200" y="8382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1" name="Google Shape;191;p19"/>
          <p:cNvGrpSpPr/>
          <p:nvPr/>
        </p:nvGrpSpPr>
        <p:grpSpPr>
          <a:xfrm>
            <a:off x="457200" y="952500"/>
            <a:ext cx="4000500" cy="2809800"/>
            <a:chOff x="0" y="0"/>
            <a:chExt cx="4000500" cy="2809800"/>
          </a:xfrm>
        </p:grpSpPr>
        <p:sp>
          <p:nvSpPr>
            <p:cNvPr id="192" name="Google Shape;192;p19"/>
            <p:cNvSpPr/>
            <p:nvPr/>
          </p:nvSpPr>
          <p:spPr>
            <a:xfrm>
              <a:off x="0" y="0"/>
              <a:ext cx="4000500" cy="2809800"/>
            </a:xfrm>
            <a:prstGeom prst="roundRect">
              <a:avLst>
                <a:gd fmla="val 1355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0" y="0"/>
              <a:ext cx="4000500" cy="28500"/>
            </a:xfrm>
            <a:prstGeom prst="roundRect">
              <a:avLst>
                <a:gd fmla="val 33333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133350" y="114300"/>
              <a:ext cx="3733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SIMULATED INPUT (OBSERVABLE SYMPTOMS ONLY)</a:t>
              </a:r>
              <a:endParaRPr b="0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95" name="Google Shape;195;p19"/>
            <p:cNvCxnSpPr/>
            <p:nvPr/>
          </p:nvCxnSpPr>
          <p:spPr>
            <a:xfrm>
              <a:off x="133350" y="304800"/>
              <a:ext cx="3733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" name="Google Shape;196;p19"/>
            <p:cNvSpPr txBox="1"/>
            <p:nvPr/>
          </p:nvSpPr>
          <p:spPr>
            <a:xfrm>
              <a:off x="133350" y="381000"/>
              <a:ext cx="37338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20">
                  <a:solidFill>
                    <a:srgbClr val="4B556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Alert ID: </a:t>
              </a:r>
              <a:r>
                <a:rPr lang="en" sz="750">
                  <a:solidFill>
                    <a:srgbClr val="11182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alt-payment-500-spike</a:t>
              </a:r>
              <a:endParaRPr sz="750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20">
                  <a:solidFill>
                    <a:srgbClr val="4B556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Target Service: </a:t>
              </a:r>
              <a:r>
                <a:rPr lang="en" sz="750">
                  <a:solidFill>
                    <a:srgbClr val="11182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payment-api</a:t>
              </a:r>
              <a:endParaRPr sz="750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20">
                  <a:solidFill>
                    <a:srgbClr val="4B556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Severity: </a:t>
              </a:r>
              <a:r>
                <a:rPr b="0" lang="en" sz="750">
                  <a:solidFill>
                    <a:srgbClr val="991B1B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CRITICAL (P1)</a:t>
              </a:r>
              <a:endParaRPr sz="750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20">
                  <a:solidFill>
                    <a:srgbClr val="4B556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Timestamp: </a:t>
              </a:r>
              <a:r>
                <a:rPr lang="en" sz="750">
                  <a:solidFill>
                    <a:srgbClr val="11182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2026-09-12T10:27:00Z</a:t>
              </a:r>
              <a:endParaRPr sz="750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720">
                  <a:solidFill>
                    <a:srgbClr val="4B556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Observable Symptom:</a:t>
              </a:r>
              <a:endParaRPr sz="720">
                <a:solidFill>
                  <a:srgbClr val="4B556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91B1B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"[P1] HTTP 500 Error Spike (&gt;35% error rate)"</a:t>
              </a:r>
              <a:endParaRPr b="0" sz="750">
                <a:solidFill>
                  <a:srgbClr val="991B1B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Attached Raw Sources</a:t>
              </a:r>
              <a:r>
                <a:rPr lang="en" sz="7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</a:t>
              </a:r>
              <a:r>
                <a:rPr b="0" lang="en" sz="7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:</a:t>
              </a:r>
              <a:endParaRPr b="0" sz="7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20">
                  <a:solidFill>
                    <a:srgbClr val="4B556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Git Commits: </a:t>
              </a:r>
              <a:r>
                <a:rPr lang="en" sz="750">
                  <a:solidFill>
                    <a:srgbClr val="11182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3 recent commits</a:t>
              </a:r>
              <a:endParaRPr sz="720">
                <a:solidFill>
                  <a:srgbClr val="4B556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720">
                  <a:solidFill>
                    <a:srgbClr val="4B556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Config History:</a:t>
              </a:r>
              <a:r>
                <a:rPr lang="en" sz="750">
                  <a:solidFill>
                    <a:srgbClr val="11182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1 deployment update (cfg-chg-01)</a:t>
              </a:r>
              <a:endParaRPr sz="720">
                <a:solidFill>
                  <a:srgbClr val="4B556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720">
                  <a:solidFill>
                    <a:srgbClr val="4B556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System Logs: </a:t>
              </a:r>
              <a:r>
                <a:rPr lang="en" sz="750">
                  <a:solidFill>
                    <a:srgbClr val="11182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15,000 raw lines (timeout warnings)</a:t>
              </a:r>
              <a:endParaRPr sz="720">
                <a:solidFill>
                  <a:srgbClr val="4B556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720">
                  <a:solidFill>
                    <a:srgbClr val="4B556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Metrics: </a:t>
              </a:r>
              <a:r>
                <a:rPr lang="en" sz="750">
                  <a:solidFill>
                    <a:srgbClr val="11182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Prometheus latency &amp; error rate time-series</a:t>
              </a:r>
              <a:endParaRPr sz="720">
                <a:solidFill>
                  <a:srgbClr val="4B556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97" name="Google Shape;197;p19"/>
          <p:cNvGrpSpPr/>
          <p:nvPr/>
        </p:nvGrpSpPr>
        <p:grpSpPr>
          <a:xfrm>
            <a:off x="4686300" y="952500"/>
            <a:ext cx="4000500" cy="2809800"/>
            <a:chOff x="0" y="0"/>
            <a:chExt cx="4000500" cy="2809800"/>
          </a:xfrm>
        </p:grpSpPr>
        <p:sp>
          <p:nvSpPr>
            <p:cNvPr id="198" name="Google Shape;198;p19"/>
            <p:cNvSpPr/>
            <p:nvPr/>
          </p:nvSpPr>
          <p:spPr>
            <a:xfrm>
              <a:off x="0" y="0"/>
              <a:ext cx="4000500" cy="2809800"/>
            </a:xfrm>
            <a:prstGeom prst="roundRect">
              <a:avLst>
                <a:gd fmla="val 1355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0" y="0"/>
              <a:ext cx="4000500" cy="28500"/>
            </a:xfrm>
            <a:prstGeom prst="roundRect">
              <a:avLst>
                <a:gd fmla="val 33333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133350" y="114300"/>
              <a:ext cx="3733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EXPECTED OUTPUT (EVIDENCE-GROUNDED TRIAGE)</a:t>
              </a:r>
              <a:endParaRPr b="0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201" name="Google Shape;201;p19"/>
            <p:cNvCxnSpPr/>
            <p:nvPr/>
          </p:nvCxnSpPr>
          <p:spPr>
            <a:xfrm>
              <a:off x="133350" y="304800"/>
              <a:ext cx="3733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2" name="Google Shape;202;p19"/>
            <p:cNvSpPr txBox="1"/>
            <p:nvPr/>
          </p:nvSpPr>
          <p:spPr>
            <a:xfrm>
              <a:off x="133350" y="361950"/>
              <a:ext cx="37338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1. Reconstructed Chronology</a:t>
              </a:r>
              <a:endParaRPr b="0" sz="7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10:25:10Z [Change] </a:t>
              </a:r>
              <a:r>
                <a:rPr lang="en" sz="74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cfg-chg-01: DB pool max_size reduced to 0</a:t>
              </a:r>
              <a:endParaRPr sz="74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10:27:15Z [Symptom]</a:t>
              </a:r>
              <a:r>
                <a:rPr lang="en" sz="74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log-001: DB connection timeout after 5000ms</a:t>
              </a:r>
              <a:endParaRPr sz="74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10:28:00Z [Symptom]</a:t>
              </a:r>
              <a:r>
                <a:rPr lang="en" sz="74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metric-001: Pool exhausted (0/20 available)</a:t>
              </a:r>
              <a:endParaRPr sz="74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2. Ranked Root-Cause Hypotheses</a:t>
              </a:r>
              <a:endParaRPr b="0" sz="7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Rank #1: </a:t>
              </a:r>
              <a:r>
                <a:rPr b="0" lang="en" sz="6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HIGH Confidence </a:t>
              </a:r>
              <a:endParaRPr b="0" sz="7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74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"Database connection pool misconfiguration caused connection starvation."</a:t>
              </a:r>
              <a:endParaRPr sz="74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lang="en" sz="74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Citations: </a:t>
              </a:r>
              <a:r>
                <a:rPr b="0" lang="en" sz="750">
                  <a:solidFill>
                    <a:srgbClr val="0055A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ev_6f978</a:t>
              </a:r>
              <a:r>
                <a:rPr lang="en" sz="74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(commit diff), </a:t>
              </a:r>
              <a:r>
                <a:rPr b="0" lang="en" sz="750">
                  <a:solidFill>
                    <a:srgbClr val="0055A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ev_93538</a:t>
              </a:r>
              <a:r>
                <a:rPr lang="en" sz="74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(timeout logs)</a:t>
              </a:r>
              <a:endParaRPr sz="74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lang="en" sz="74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Score: Src 25/25 | Causal 25/25 | Sym 20/20 | Time 15/20</a:t>
              </a:r>
              <a:endParaRPr sz="74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Rank #2: </a:t>
              </a:r>
              <a:r>
                <a:rPr b="0" lang="en" sz="65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LOW Confidence </a:t>
              </a:r>
              <a:endParaRPr b="0" sz="7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74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"Upstream network gateway outage."</a:t>
              </a:r>
              <a:endParaRPr sz="74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lang="en" sz="74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Status: </a:t>
              </a:r>
              <a:r>
                <a:rPr b="0" lang="en" sz="750">
                  <a:solidFill>
                    <a:srgbClr val="991B1B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Demoted</a:t>
              </a:r>
              <a:r>
                <a:rPr lang="en" sz="74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(Contradicted by normal latency metrics)</a:t>
              </a:r>
              <a:endParaRPr sz="74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3" name="Google Shape;203;p19"/>
          <p:cNvGrpSpPr/>
          <p:nvPr/>
        </p:nvGrpSpPr>
        <p:grpSpPr>
          <a:xfrm>
            <a:off x="457200" y="3876675"/>
            <a:ext cx="8229600" cy="809700"/>
            <a:chOff x="0" y="0"/>
            <a:chExt cx="8229600" cy="809700"/>
          </a:xfrm>
        </p:grpSpPr>
        <p:sp>
          <p:nvSpPr>
            <p:cNvPr id="204" name="Google Shape;204;p19"/>
            <p:cNvSpPr/>
            <p:nvPr/>
          </p:nvSpPr>
          <p:spPr>
            <a:xfrm>
              <a:off x="0" y="0"/>
              <a:ext cx="8229600" cy="809700"/>
            </a:xfrm>
            <a:prstGeom prst="roundRect">
              <a:avLst>
                <a:gd fmla="val 4705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0" y="0"/>
              <a:ext cx="38100" cy="809700"/>
            </a:xfrm>
            <a:prstGeom prst="roundRect">
              <a:avLst>
                <a:gd fmla="val 50000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152400" y="114300"/>
              <a:ext cx="7924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EVALUATION BENCHMARK PRINCIPLE</a:t>
              </a:r>
              <a:endParaRPr b="0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152400" y="323850"/>
              <a:ext cx="7924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Insight:</a:t>
              </a:r>
              <a:r>
                <a:rPr b="0" lang="en" sz="8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The agent autonomously queries telemetry, correlates timelines, eliminates coincidental changes, and outputs auditable citations.</a:t>
              </a:r>
              <a:endParaRPr b="0" sz="8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cxnSp>
        <p:nvCxnSpPr>
          <p:cNvPr id="208" name="Google Shape;208;p19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/>
        </p:nvSpPr>
        <p:spPr>
          <a:xfrm>
            <a:off x="457200" y="381000"/>
            <a:ext cx="6477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Anti-Hallucination Pillars</a:t>
            </a:r>
            <a:endParaRPr b="1" sz="21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Architectural guardrails ensuring system reliability, citation rigor, and deterministic output</a:t>
            </a:r>
            <a:endParaRPr b="0" sz="105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4" name="Google Shape;214;p20"/>
          <p:cNvGrpSpPr/>
          <p:nvPr/>
        </p:nvGrpSpPr>
        <p:grpSpPr>
          <a:xfrm>
            <a:off x="7239000" y="371475"/>
            <a:ext cx="1409700" cy="228750"/>
            <a:chOff x="0" y="-28575"/>
            <a:chExt cx="1409700" cy="228750"/>
          </a:xfrm>
        </p:grpSpPr>
        <p:sp>
          <p:nvSpPr>
            <p:cNvPr id="215" name="Google Shape;215;p20"/>
            <p:cNvSpPr/>
            <p:nvPr/>
          </p:nvSpPr>
          <p:spPr>
            <a:xfrm>
              <a:off x="0" y="0"/>
              <a:ext cx="133500" cy="133500"/>
            </a:xfrm>
            <a:prstGeom prst="rect">
              <a:avLst/>
            </a:prstGeom>
            <a:solidFill>
              <a:srgbClr val="0055A4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66675" y="66675"/>
              <a:ext cx="133500" cy="133500"/>
            </a:xfrm>
            <a:prstGeom prst="rect">
              <a:avLst/>
            </a:prstGeom>
            <a:solidFill>
              <a:srgbClr val="111827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266700" y="-28575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Recover</a:t>
              </a:r>
              <a:r>
                <a:rPr b="1" lang="en" sz="1050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IT</a:t>
              </a:r>
              <a:endParaRPr b="1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457200" y="1285875"/>
            <a:ext cx="3962400" cy="1476300"/>
            <a:chOff x="457200" y="1285875"/>
            <a:chExt cx="3962400" cy="1476300"/>
          </a:xfrm>
        </p:grpSpPr>
        <p:sp>
          <p:nvSpPr>
            <p:cNvPr id="219" name="Google Shape;219;p20"/>
            <p:cNvSpPr/>
            <p:nvPr/>
          </p:nvSpPr>
          <p:spPr>
            <a:xfrm>
              <a:off x="457200" y="1285875"/>
              <a:ext cx="3962400" cy="1476300"/>
            </a:xfrm>
            <a:prstGeom prst="roundRect">
              <a:avLst>
                <a:gd fmla="val 2580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457200" y="1285875"/>
              <a:ext cx="3962400" cy="28500"/>
            </a:xfrm>
            <a:prstGeom prst="roundRect">
              <a:avLst>
                <a:gd fmla="val 33333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647700" y="1457325"/>
              <a:ext cx="3581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Evidence-First Reasoning</a:t>
              </a:r>
              <a:endParaRPr b="1" sz="1125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Grounds all generated hypotheses directly in verified log evidence before drawing conclusions. Enforces strict citation mapping for every claims node.</a:t>
              </a:r>
              <a:endParaRPr b="0" sz="9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2" name="Google Shape;222;p20"/>
          <p:cNvGrpSpPr/>
          <p:nvPr/>
        </p:nvGrpSpPr>
        <p:grpSpPr>
          <a:xfrm>
            <a:off x="4724400" y="1285875"/>
            <a:ext cx="3962400" cy="1476300"/>
            <a:chOff x="4724400" y="1285875"/>
            <a:chExt cx="3962400" cy="1476300"/>
          </a:xfrm>
        </p:grpSpPr>
        <p:sp>
          <p:nvSpPr>
            <p:cNvPr id="223" name="Google Shape;223;p20"/>
            <p:cNvSpPr/>
            <p:nvPr/>
          </p:nvSpPr>
          <p:spPr>
            <a:xfrm>
              <a:off x="4724400" y="1285875"/>
              <a:ext cx="3962400" cy="1476300"/>
            </a:xfrm>
            <a:prstGeom prst="roundRect">
              <a:avLst>
                <a:gd fmla="val 2580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4724400" y="1285875"/>
              <a:ext cx="3962400" cy="28500"/>
            </a:xfrm>
            <a:prstGeom prst="roundRect">
              <a:avLst>
                <a:gd fmla="val 33333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4914900" y="1457325"/>
              <a:ext cx="3581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Deterministic Fallbacks</a:t>
              </a:r>
              <a:endParaRPr b="1" sz="1125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Algorithmic triage mechanisms revert to static rule sets when LLM confidence drops below threshold, eliminating speculative failure recovery.</a:t>
              </a:r>
              <a:endParaRPr b="0" sz="9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457200" y="3000375"/>
            <a:ext cx="3962400" cy="1476300"/>
            <a:chOff x="457200" y="3000375"/>
            <a:chExt cx="3962400" cy="1476300"/>
          </a:xfrm>
        </p:grpSpPr>
        <p:sp>
          <p:nvSpPr>
            <p:cNvPr id="227" name="Google Shape;227;p20"/>
            <p:cNvSpPr/>
            <p:nvPr/>
          </p:nvSpPr>
          <p:spPr>
            <a:xfrm>
              <a:off x="457200" y="3000375"/>
              <a:ext cx="3962400" cy="1476300"/>
            </a:xfrm>
            <a:prstGeom prst="roundRect">
              <a:avLst>
                <a:gd fmla="val 2580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457200" y="3000375"/>
              <a:ext cx="3962400" cy="28500"/>
            </a:xfrm>
            <a:prstGeom prst="roundRect">
              <a:avLst>
                <a:gd fmla="val 33333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 txBox="1"/>
            <p:nvPr/>
          </p:nvSpPr>
          <p:spPr>
            <a:xfrm>
              <a:off x="647700" y="3171825"/>
              <a:ext cx="3581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Schema &amp; Constraint Validation</a:t>
              </a:r>
              <a:endParaRPr b="1" sz="1125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Applies strict structural and typed JSON validation on all model outputs prior to execution, preventing malformed downstream actions.</a:t>
              </a:r>
              <a:endParaRPr b="0" sz="9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>
            <a:off x="4724400" y="3000375"/>
            <a:ext cx="3962400" cy="1476300"/>
            <a:chOff x="4724400" y="3000375"/>
            <a:chExt cx="3962400" cy="1476300"/>
          </a:xfrm>
        </p:grpSpPr>
        <p:sp>
          <p:nvSpPr>
            <p:cNvPr id="231" name="Google Shape;231;p20"/>
            <p:cNvSpPr/>
            <p:nvPr/>
          </p:nvSpPr>
          <p:spPr>
            <a:xfrm>
              <a:off x="4724400" y="3000375"/>
              <a:ext cx="3962400" cy="1476300"/>
            </a:xfrm>
            <a:prstGeom prst="roundRect">
              <a:avLst>
                <a:gd fmla="val 2580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4724400" y="3000375"/>
              <a:ext cx="3962400" cy="28500"/>
            </a:xfrm>
            <a:prstGeom prst="roundRect">
              <a:avLst>
                <a:gd fmla="val 33333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0"/>
            <p:cNvSpPr txBox="1"/>
            <p:nvPr/>
          </p:nvSpPr>
          <p:spPr>
            <a:xfrm>
              <a:off x="4914900" y="3171825"/>
              <a:ext cx="3581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Multi-Source Cross-Verification</a:t>
              </a:r>
              <a:endParaRPr b="1" sz="1125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Corroborates single-point findings against independent system metrics and trace telemetry, systematically filtering out isolated anomalies.</a:t>
              </a:r>
              <a:endParaRPr b="0" sz="9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34" name="Google Shape;234;p20"/>
          <p:cNvCxnSpPr/>
          <p:nvPr/>
        </p:nvCxnSpPr>
        <p:spPr>
          <a:xfrm>
            <a:off x="457200" y="47434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1"/>
          <p:cNvGrpSpPr/>
          <p:nvPr/>
        </p:nvGrpSpPr>
        <p:grpSpPr>
          <a:xfrm>
            <a:off x="7810500" y="457200"/>
            <a:ext cx="1386960" cy="182880"/>
            <a:chOff x="0" y="0"/>
            <a:chExt cx="1733700" cy="228600"/>
          </a:xfrm>
        </p:grpSpPr>
        <p:sp>
          <p:nvSpPr>
            <p:cNvPr id="240" name="Google Shape;240;p21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55A4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827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304800" y="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Recover</a:t>
              </a:r>
              <a:r>
                <a:rPr b="1" lang="en" sz="1200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IT</a:t>
              </a:r>
              <a:endParaRPr b="1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43" name="Google Shape;243;p21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21"/>
          <p:cNvSpPr txBox="1"/>
          <p:nvPr/>
        </p:nvSpPr>
        <p:spPr>
          <a:xfrm>
            <a:off x="457200" y="45720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Explainable Confidence Scoring Algorithm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5" name="Google Shape;245;p21"/>
          <p:cNvGrpSpPr/>
          <p:nvPr/>
        </p:nvGrpSpPr>
        <p:grpSpPr>
          <a:xfrm>
            <a:off x="457200" y="1143000"/>
            <a:ext cx="8229600" cy="1047900"/>
            <a:chOff x="0" y="0"/>
            <a:chExt cx="8229600" cy="1047900"/>
          </a:xfrm>
        </p:grpSpPr>
        <p:sp>
          <p:nvSpPr>
            <p:cNvPr id="246" name="Google Shape;246;p21"/>
            <p:cNvSpPr/>
            <p:nvPr/>
          </p:nvSpPr>
          <p:spPr>
            <a:xfrm>
              <a:off x="0" y="0"/>
              <a:ext cx="8229600" cy="1047900"/>
            </a:xfrm>
            <a:prstGeom prst="roundRect">
              <a:avLst>
                <a:gd fmla="val 3636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190500" y="152400"/>
              <a:ext cx="784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FORMULA-DRIVEN SCORING ENGINE (0-100)</a:t>
              </a:r>
              <a:endParaRPr b="0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975">
                  <a:solidFill>
                    <a:srgbClr val="11182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Evidence Score = w_src * S_sources + w_sym * S_symptoms + w_temp * S_timeline + w_cau * S_causal + w_spec * S_spec - P_contradiction - P_missing_cause</a:t>
              </a:r>
              <a:endParaRPr b="0" sz="975">
                <a:solidFill>
                  <a:srgbClr val="11182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  <p:cxnSp>
        <p:nvCxnSpPr>
          <p:cNvPr id="249" name="Google Shape;249;p21"/>
          <p:cNvCxnSpPr/>
          <p:nvPr/>
        </p:nvCxnSpPr>
        <p:spPr>
          <a:xfrm>
            <a:off x="457200" y="24193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0" name="Google Shape;250;p21"/>
          <p:cNvGrpSpPr/>
          <p:nvPr/>
        </p:nvGrpSpPr>
        <p:grpSpPr>
          <a:xfrm>
            <a:off x="457200" y="2647950"/>
            <a:ext cx="4000500" cy="1714500"/>
            <a:chOff x="0" y="0"/>
            <a:chExt cx="4000500" cy="1714500"/>
          </a:xfrm>
        </p:grpSpPr>
        <p:cxnSp>
          <p:nvCxnSpPr>
            <p:cNvPr id="251" name="Google Shape;251;p21"/>
            <p:cNvCxnSpPr/>
            <p:nvPr/>
          </p:nvCxnSpPr>
          <p:spPr>
            <a:xfrm>
              <a:off x="0" y="0"/>
              <a:ext cx="0" cy="171450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0055A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2" name="Google Shape;252;p21"/>
            <p:cNvSpPr txBox="1"/>
            <p:nvPr/>
          </p:nvSpPr>
          <p:spPr>
            <a:xfrm>
              <a:off x="190500" y="0"/>
              <a:ext cx="3810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ARCHITECTURAL ADVANTAGE</a:t>
              </a:r>
              <a:endParaRPr b="0" sz="7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Contrast with Black-Box LLMs</a:t>
              </a:r>
              <a:endParaRPr b="0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Unlike opaque LLM scoring, our confidence labels are mathematically derived from verified telemetry citations.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53" name="Google Shape;253;p21"/>
          <p:cNvCxnSpPr/>
          <p:nvPr/>
        </p:nvCxnSpPr>
        <p:spPr>
          <a:xfrm>
            <a:off x="4572000" y="2647950"/>
            <a:ext cx="0" cy="17337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p21"/>
          <p:cNvGrpSpPr/>
          <p:nvPr/>
        </p:nvGrpSpPr>
        <p:grpSpPr>
          <a:xfrm>
            <a:off x="4876800" y="2647950"/>
            <a:ext cx="3810000" cy="1657350"/>
            <a:chOff x="0" y="0"/>
            <a:chExt cx="3810000" cy="1657350"/>
          </a:xfrm>
        </p:grpSpPr>
        <p:sp>
          <p:nvSpPr>
            <p:cNvPr id="255" name="Google Shape;255;p21"/>
            <p:cNvSpPr txBox="1"/>
            <p:nvPr/>
          </p:nvSpPr>
          <p:spPr>
            <a:xfrm>
              <a:off x="0" y="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94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THRESHOLDS</a:t>
              </a:r>
              <a:endParaRPr b="0" sz="694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11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Confidence Tiers</a:t>
              </a:r>
              <a:endParaRPr b="0" sz="111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56" name="Google Shape;256;p21"/>
            <p:cNvGrpSpPr/>
            <p:nvPr/>
          </p:nvGrpSpPr>
          <p:grpSpPr>
            <a:xfrm>
              <a:off x="0" y="476250"/>
              <a:ext cx="3810000" cy="342900"/>
              <a:chOff x="0" y="0"/>
              <a:chExt cx="3810000" cy="342900"/>
            </a:xfrm>
          </p:grpSpPr>
          <p:sp>
            <p:nvSpPr>
              <p:cNvPr id="257" name="Google Shape;257;p21"/>
              <p:cNvSpPr/>
              <p:nvPr/>
            </p:nvSpPr>
            <p:spPr>
              <a:xfrm>
                <a:off x="0" y="0"/>
                <a:ext cx="3810000" cy="342900"/>
              </a:xfrm>
              <a:prstGeom prst="roundRect">
                <a:avLst>
                  <a:gd fmla="val 5555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0" y="0"/>
                <a:ext cx="38100" cy="342900"/>
              </a:xfrm>
              <a:prstGeom prst="rect">
                <a:avLst/>
              </a:prstGeom>
              <a:solidFill>
                <a:srgbClr val="991B1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1"/>
              <p:cNvSpPr txBox="1"/>
              <p:nvPr/>
            </p:nvSpPr>
            <p:spPr>
              <a:xfrm>
                <a:off x="152400" y="7620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750">
                    <a:solidFill>
                      <a:srgbClr val="991B1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LOW</a:t>
                </a:r>
                <a:endParaRPr b="0" sz="75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60" name="Google Shape;260;p21"/>
              <p:cNvSpPr txBox="1"/>
              <p:nvPr/>
            </p:nvSpPr>
            <p:spPr>
              <a:xfrm>
                <a:off x="2667000" y="76200"/>
                <a:ext cx="990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900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&lt; 50</a:t>
                </a:r>
                <a:endParaRPr b="0" sz="900">
                  <a:solidFill>
                    <a:srgbClr val="11182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  <p:grpSp>
          <p:nvGrpSpPr>
            <p:cNvPr id="261" name="Google Shape;261;p21"/>
            <p:cNvGrpSpPr/>
            <p:nvPr/>
          </p:nvGrpSpPr>
          <p:grpSpPr>
            <a:xfrm>
              <a:off x="0" y="895350"/>
              <a:ext cx="3810000" cy="342900"/>
              <a:chOff x="0" y="0"/>
              <a:chExt cx="3810000" cy="342900"/>
            </a:xfrm>
          </p:grpSpPr>
          <p:sp>
            <p:nvSpPr>
              <p:cNvPr id="262" name="Google Shape;262;p21"/>
              <p:cNvSpPr/>
              <p:nvPr/>
            </p:nvSpPr>
            <p:spPr>
              <a:xfrm>
                <a:off x="0" y="0"/>
                <a:ext cx="3810000" cy="342900"/>
              </a:xfrm>
              <a:prstGeom prst="roundRect">
                <a:avLst>
                  <a:gd fmla="val 5555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1"/>
              <p:cNvSpPr/>
              <p:nvPr/>
            </p:nvSpPr>
            <p:spPr>
              <a:xfrm>
                <a:off x="0" y="0"/>
                <a:ext cx="38100" cy="342900"/>
              </a:xfrm>
              <a:prstGeom prst="rect">
                <a:avLst/>
              </a:prstGeom>
              <a:solidFill>
                <a:srgbClr val="0055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1"/>
              <p:cNvSpPr txBox="1"/>
              <p:nvPr/>
            </p:nvSpPr>
            <p:spPr>
              <a:xfrm>
                <a:off x="152400" y="7620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750">
                    <a:solidFill>
                      <a:srgbClr val="0055A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MEDIUM</a:t>
                </a:r>
                <a:endParaRPr b="0" sz="7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65" name="Google Shape;265;p21"/>
              <p:cNvSpPr txBox="1"/>
              <p:nvPr/>
            </p:nvSpPr>
            <p:spPr>
              <a:xfrm>
                <a:off x="2667000" y="76200"/>
                <a:ext cx="990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900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50-74</a:t>
                </a:r>
                <a:endParaRPr b="0" sz="900">
                  <a:solidFill>
                    <a:srgbClr val="11182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  <p:grpSp>
          <p:nvGrpSpPr>
            <p:cNvPr id="266" name="Google Shape;266;p21"/>
            <p:cNvGrpSpPr/>
            <p:nvPr/>
          </p:nvGrpSpPr>
          <p:grpSpPr>
            <a:xfrm>
              <a:off x="0" y="1314450"/>
              <a:ext cx="3810000" cy="342900"/>
              <a:chOff x="0" y="0"/>
              <a:chExt cx="3810000" cy="342900"/>
            </a:xfrm>
          </p:grpSpPr>
          <p:sp>
            <p:nvSpPr>
              <p:cNvPr id="267" name="Google Shape;267;p21"/>
              <p:cNvSpPr/>
              <p:nvPr/>
            </p:nvSpPr>
            <p:spPr>
              <a:xfrm>
                <a:off x="0" y="0"/>
                <a:ext cx="3810000" cy="342900"/>
              </a:xfrm>
              <a:prstGeom prst="roundRect">
                <a:avLst>
                  <a:gd fmla="val 5555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1"/>
              <p:cNvSpPr/>
              <p:nvPr/>
            </p:nvSpPr>
            <p:spPr>
              <a:xfrm>
                <a:off x="0" y="0"/>
                <a:ext cx="38100" cy="342900"/>
              </a:xfrm>
              <a:prstGeom prst="rect">
                <a:avLst/>
              </a:prstGeom>
              <a:solidFill>
                <a:srgbClr val="1665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1"/>
              <p:cNvSpPr txBox="1"/>
              <p:nvPr/>
            </p:nvSpPr>
            <p:spPr>
              <a:xfrm>
                <a:off x="152400" y="7620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75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HIGH</a:t>
                </a:r>
                <a:endParaRPr b="0" sz="7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70" name="Google Shape;270;p21"/>
              <p:cNvSpPr txBox="1"/>
              <p:nvPr/>
            </p:nvSpPr>
            <p:spPr>
              <a:xfrm>
                <a:off x="2667000" y="76200"/>
                <a:ext cx="990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900">
                    <a:solidFill>
                      <a:srgbClr val="11182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&gt;= 75</a:t>
                </a:r>
                <a:endParaRPr b="0" sz="900">
                  <a:solidFill>
                    <a:srgbClr val="11182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2"/>
          <p:cNvGrpSpPr/>
          <p:nvPr/>
        </p:nvGrpSpPr>
        <p:grpSpPr>
          <a:xfrm>
            <a:off x="7810500" y="457200"/>
            <a:ext cx="1386960" cy="182880"/>
            <a:chOff x="0" y="0"/>
            <a:chExt cx="1733700" cy="228600"/>
          </a:xfrm>
        </p:grpSpPr>
        <p:sp>
          <p:nvSpPr>
            <p:cNvPr id="276" name="Google Shape;276;p22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55A4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827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304800" y="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Recover</a:t>
              </a:r>
              <a:r>
                <a:rPr b="1" lang="en" sz="1200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IT</a:t>
              </a:r>
              <a:endParaRPr b="1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79" name="Google Shape;279;p22"/>
          <p:cNvCxnSpPr/>
          <p:nvPr/>
        </p:nvCxnSpPr>
        <p:spPr>
          <a:xfrm>
            <a:off x="457200" y="47244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22"/>
          <p:cNvSpPr txBox="1"/>
          <p:nvPr/>
        </p:nvSpPr>
        <p:spPr>
          <a:xfrm>
            <a:off x="457200" y="45720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Explainable Confidence Scoring Algorithm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5352900" y="2554600"/>
            <a:ext cx="2952900" cy="128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PENALTIES &amp; GUARDRAILS (SUBTRACTED)</a:t>
            </a:r>
            <a:endParaRPr b="1" sz="1000">
              <a:solidFill>
                <a:srgbClr val="991B1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30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Char char="●"/>
            </a:pPr>
            <a:r>
              <a:rPr b="0" lang="en" sz="1000">
                <a:solidFill>
                  <a:srgbClr val="991B1B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- P_contradiction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(Up to -30 pts)</a:t>
            </a:r>
            <a:b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Falsification Penalty:</a:t>
            </a:r>
            <a:r>
              <a:rPr lang="en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Heavily penalizes claims directly refuted by real telemetry.</a:t>
            </a:r>
            <a:endParaRPr sz="10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45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Char char="●"/>
            </a:pPr>
            <a:r>
              <a:rPr b="0" lang="en" sz="1000">
                <a:solidFill>
                  <a:srgbClr val="991B1B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- P_missing_cause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(Up to -20 pts)</a:t>
            </a:r>
            <a:b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Incompleteness Penalty:</a:t>
            </a:r>
            <a:r>
              <a:rPr lang="en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Penalizes unverified speculative gaps from reaching Rank #1.</a:t>
            </a:r>
            <a:endParaRPr sz="10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381000" y="2472975"/>
            <a:ext cx="4762500" cy="128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55A4"/>
                </a:solidFill>
                <a:latin typeface="Inter"/>
                <a:ea typeface="Inter"/>
                <a:cs typeface="Inter"/>
                <a:sym typeface="Inter"/>
              </a:rPr>
              <a:t>POSITIVE EVIDENTIARY FACTORS (+85–100 PTS MAX)</a:t>
            </a:r>
            <a:endParaRPr b="1" sz="1000">
              <a:solidFill>
                <a:srgbClr val="0055A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30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Char char="●"/>
            </a:pPr>
            <a:r>
              <a:rPr b="0" lang="en" sz="1000">
                <a:solidFill>
                  <a:srgbClr val="0055A4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w_src · S_sources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(+25 pts) — </a:t>
            </a:r>
            <a:r>
              <a:rPr b="1"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Multi-Source Corroboration: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Proves issue across independent telemetry (Git + Logs + Metrics).</a:t>
            </a:r>
            <a:endParaRPr sz="10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225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Char char="●"/>
            </a:pPr>
            <a:r>
              <a:rPr b="0" lang="en" sz="1000">
                <a:solidFill>
                  <a:srgbClr val="0055A4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w_sym · S_symptoms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(+20 pts) — </a:t>
            </a:r>
            <a:r>
              <a:rPr b="1"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Explanatory Power: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Ensures hypothesis explains all observed failures.</a:t>
            </a:r>
            <a:endParaRPr sz="10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225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Char char="●"/>
            </a:pPr>
            <a:r>
              <a:rPr b="0" lang="en" sz="1000">
                <a:solidFill>
                  <a:srgbClr val="0055A4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w_temp · S_timeline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(+15 pts) — </a:t>
            </a:r>
            <a:r>
              <a:rPr b="1"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Chronological Causality: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Proposed cause strictly precedes symptom onset.</a:t>
            </a:r>
            <a:endParaRPr sz="10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225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Char char="●"/>
            </a:pPr>
            <a:r>
              <a:rPr b="0" lang="en" sz="1000">
                <a:solidFill>
                  <a:srgbClr val="0055A4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w_cau · S_causal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(+15 pts) — </a:t>
            </a:r>
            <a:r>
              <a:rPr b="1"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Direct Causal Evidence: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Empirical change proof (verified commit/config diff).</a:t>
            </a:r>
            <a:endParaRPr sz="10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225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Char char="●"/>
            </a:pPr>
            <a:r>
              <a:rPr b="0" lang="en" sz="1000">
                <a:solidFill>
                  <a:srgbClr val="0055A4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w_spec · S_spec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(+10 pts) — </a:t>
            </a:r>
            <a:r>
              <a:rPr b="1"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Actionability &amp; Specificity:</a:t>
            </a:r>
            <a:r>
              <a:rPr lang="en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Rewards narrow component diagnoses over vague claims.</a:t>
            </a:r>
            <a:endParaRPr sz="10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457200" y="141065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FORMULA-DRIVEN SCORING ENGINE (0-100)</a:t>
            </a:r>
            <a:endParaRPr b="0" sz="750">
              <a:solidFill>
                <a:srgbClr val="0055A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0" lang="en" sz="975">
                <a:solidFill>
                  <a:srgbClr val="11182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Evidence Score = w_src * S_sources + w_sym * S_symptoms + w_temp * S_timeline + w_cau * S_causal + w_spec * S_spec - P_contradiction - P_missing_cause</a:t>
            </a:r>
            <a:endParaRPr b="0" sz="975">
              <a:solidFill>
                <a:srgbClr val="111827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</p:txBody>
      </p:sp>
      <p:grpSp>
        <p:nvGrpSpPr>
          <p:cNvPr id="284" name="Google Shape;284;p22"/>
          <p:cNvGrpSpPr/>
          <p:nvPr/>
        </p:nvGrpSpPr>
        <p:grpSpPr>
          <a:xfrm>
            <a:off x="457200" y="1143000"/>
            <a:ext cx="8229600" cy="1047900"/>
            <a:chOff x="0" y="0"/>
            <a:chExt cx="8229600" cy="1047900"/>
          </a:xfrm>
        </p:grpSpPr>
        <p:sp>
          <p:nvSpPr>
            <p:cNvPr id="285" name="Google Shape;285;p22"/>
            <p:cNvSpPr/>
            <p:nvPr/>
          </p:nvSpPr>
          <p:spPr>
            <a:xfrm>
              <a:off x="0" y="0"/>
              <a:ext cx="8229600" cy="1047900"/>
            </a:xfrm>
            <a:prstGeom prst="roundRect">
              <a:avLst>
                <a:gd fmla="val 3636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190500" y="152400"/>
              <a:ext cx="784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FORMULA-DRIVEN SCORING ENGINE (0-100)</a:t>
              </a:r>
              <a:endParaRPr b="0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975">
                  <a:solidFill>
                    <a:srgbClr val="11182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Evidence Score = w_src * S_sources + w_sym * S_symptoms + w_temp * S_timeline + w_cau * S_causal + w_spec * S_spec - P_contradiction - P_missing_cause</a:t>
              </a:r>
              <a:endParaRPr b="0" sz="975">
                <a:solidFill>
                  <a:srgbClr val="11182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23"/>
          <p:cNvGrpSpPr/>
          <p:nvPr/>
        </p:nvGrpSpPr>
        <p:grpSpPr>
          <a:xfrm>
            <a:off x="0" y="0"/>
            <a:ext cx="9197460" cy="5143500"/>
            <a:chOff x="0" y="0"/>
            <a:chExt cx="9197460" cy="5143500"/>
          </a:xfrm>
        </p:grpSpPr>
        <p:sp>
          <p:nvSpPr>
            <p:cNvPr id="293" name="Google Shape;293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4" name="Google Shape;294;p23"/>
            <p:cNvGrpSpPr/>
            <p:nvPr/>
          </p:nvGrpSpPr>
          <p:grpSpPr>
            <a:xfrm>
              <a:off x="7810500" y="457200"/>
              <a:ext cx="1386960" cy="182880"/>
              <a:chOff x="0" y="0"/>
              <a:chExt cx="1733700" cy="228600"/>
            </a:xfrm>
          </p:grpSpPr>
          <p:sp>
            <p:nvSpPr>
              <p:cNvPr id="295" name="Google Shape;295;p23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5A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3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827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3"/>
              <p:cNvSpPr txBox="1"/>
              <p:nvPr/>
            </p:nvSpPr>
            <p:spPr>
              <a:xfrm>
                <a:off x="30480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Recover</a:t>
                </a:r>
                <a:r>
                  <a:rPr b="1" lang="en" sz="1200">
                    <a:solidFill>
                      <a:srgbClr val="0055A4"/>
                    </a:solidFill>
                    <a:latin typeface="Inter"/>
                    <a:ea typeface="Inter"/>
                    <a:cs typeface="Inter"/>
                    <a:sym typeface="Inter"/>
                  </a:rPr>
                  <a:t>IT</a:t>
                </a:r>
                <a:endParaRPr b="1" sz="1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298" name="Google Shape;298;p23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9" name="Google Shape;299;p23"/>
          <p:cNvSpPr txBox="1"/>
          <p:nvPr/>
        </p:nvSpPr>
        <p:spPr>
          <a:xfrm>
            <a:off x="457200" y="457200"/>
            <a:ext cx="685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4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Working Evidence — Terminal CLI &amp; Interactive Trace</a:t>
            </a:r>
            <a:endParaRPr b="1" sz="204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600"/>
              </a:spcAft>
              <a:buNone/>
            </a:pPr>
            <a:r>
              <a:rPr b="0" lang="en" sz="893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Step-by-step Execution Engine and System Verification Verification</a:t>
            </a:r>
            <a:endParaRPr b="0" sz="893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0" name="Google Shape;300;p23"/>
          <p:cNvGrpSpPr/>
          <p:nvPr/>
        </p:nvGrpSpPr>
        <p:grpSpPr>
          <a:xfrm>
            <a:off x="457200" y="1219200"/>
            <a:ext cx="8229600" cy="1447800"/>
            <a:chOff x="0" y="0"/>
            <a:chExt cx="8229600" cy="1447800"/>
          </a:xfrm>
        </p:grpSpPr>
        <p:sp>
          <p:nvSpPr>
            <p:cNvPr id="301" name="Google Shape;301;p23"/>
            <p:cNvSpPr/>
            <p:nvPr/>
          </p:nvSpPr>
          <p:spPr>
            <a:xfrm>
              <a:off x="0" y="0"/>
              <a:ext cx="8229600" cy="1447800"/>
            </a:xfrm>
            <a:prstGeom prst="roundRect">
              <a:avLst>
                <a:gd fmla="val 2631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0" y="0"/>
              <a:ext cx="38100" cy="1447800"/>
            </a:xfrm>
            <a:prstGeom prst="roundRect">
              <a:avLst>
                <a:gd fmla="val 50000" name="adj"/>
              </a:avLst>
            </a:prstGeom>
            <a:solidFill>
              <a:srgbClr val="0055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 txBox="1"/>
            <p:nvPr/>
          </p:nvSpPr>
          <p:spPr>
            <a:xfrm>
              <a:off x="152400" y="133350"/>
              <a:ext cx="792480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CLI RUNTIME COMMAND &amp; EXECUTION TRACE</a:t>
              </a:r>
              <a:endParaRPr b="0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1182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$ python -m recoverit.cli run --scenario incident_001</a:t>
              </a:r>
              <a:endParaRPr b="0" sz="900">
                <a:solidFill>
                  <a:srgbClr val="11182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en" sz="825">
                  <a:solidFill>
                    <a:srgbClr val="0055A4"/>
                  </a:solidFill>
                  <a:highlight>
                    <a:srgbClr val="FFFFFF"/>
                  </a:highlight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LIVE TRACE:</a:t>
              </a:r>
              <a:r>
                <a:rPr b="0" lang="en" sz="825">
                  <a:solidFill>
                    <a:srgbClr val="4B5563"/>
                  </a:solidFill>
                  <a:highlight>
                    <a:srgbClr val="FFFFFF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 RATIONALE </a:t>
              </a:r>
              <a:r>
                <a:rPr b="0" lang="en" sz="825">
                  <a:solidFill>
                    <a:srgbClr val="9CA3A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-&gt;</a:t>
              </a:r>
              <a:r>
                <a:rPr b="0" lang="en" sz="825">
                  <a:solidFill>
                    <a:srgbClr val="4B5563"/>
                  </a:solidFill>
                  <a:highlight>
                    <a:srgbClr val="FFFFFF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 TOOL CALL </a:t>
              </a:r>
              <a:r>
                <a:rPr b="0" lang="en" sz="825">
                  <a:solidFill>
                    <a:srgbClr val="9CA3A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-&gt;</a:t>
              </a:r>
              <a:r>
                <a:rPr b="0" lang="en" sz="825">
                  <a:solidFill>
                    <a:srgbClr val="4B5563"/>
                  </a:solidFill>
                  <a:highlight>
                    <a:srgbClr val="FFFFFF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 TOOL RESULT </a:t>
              </a:r>
              <a:r>
                <a:rPr b="0" lang="en" sz="825">
                  <a:solidFill>
                    <a:srgbClr val="9CA3A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-&gt;</a:t>
              </a:r>
              <a:r>
                <a:rPr b="0" lang="en" sz="825">
                  <a:solidFill>
                    <a:srgbClr val="4B5563"/>
                  </a:solidFill>
                  <a:highlight>
                    <a:srgbClr val="FFFFFF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 INTERPRETATION </a:t>
              </a:r>
              <a:r>
                <a:rPr b="0" lang="en" sz="825">
                  <a:solidFill>
                    <a:srgbClr val="9CA3A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-&gt;</a:t>
              </a:r>
              <a:r>
                <a:rPr b="0" lang="en" sz="825">
                  <a:solidFill>
                    <a:srgbClr val="4B5563"/>
                  </a:solidFill>
                  <a:highlight>
                    <a:srgbClr val="FFFFFF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 NEXT DECISION</a:t>
              </a:r>
              <a:endParaRPr b="0" sz="825">
                <a:solidFill>
                  <a:srgbClr val="4B556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04" name="Google Shape;304;p23"/>
          <p:cNvGrpSpPr/>
          <p:nvPr/>
        </p:nvGrpSpPr>
        <p:grpSpPr>
          <a:xfrm>
            <a:off x="457200" y="2819400"/>
            <a:ext cx="3962400" cy="1466850"/>
            <a:chOff x="0" y="0"/>
            <a:chExt cx="3962400" cy="1466850"/>
          </a:xfrm>
        </p:grpSpPr>
        <p:sp>
          <p:nvSpPr>
            <p:cNvPr id="305" name="Google Shape;305;p23"/>
            <p:cNvSpPr txBox="1"/>
            <p:nvPr/>
          </p:nvSpPr>
          <p:spPr>
            <a:xfrm>
              <a:off x="0" y="0"/>
              <a:ext cx="396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OUTPUT 1: INCIDENT CHRONOLOGY</a:t>
              </a:r>
              <a:endParaRPr b="0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06" name="Google Shape;306;p23"/>
            <p:cNvGrpSpPr/>
            <p:nvPr/>
          </p:nvGrpSpPr>
          <p:grpSpPr>
            <a:xfrm>
              <a:off x="0" y="228600"/>
              <a:ext cx="3962400" cy="762000"/>
              <a:chOff x="0" y="0"/>
              <a:chExt cx="3962400" cy="762000"/>
            </a:xfrm>
          </p:grpSpPr>
          <p:sp>
            <p:nvSpPr>
              <p:cNvPr id="307" name="Google Shape;307;p23"/>
              <p:cNvSpPr/>
              <p:nvPr/>
            </p:nvSpPr>
            <p:spPr>
              <a:xfrm>
                <a:off x="0" y="0"/>
                <a:ext cx="3962400" cy="762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8" name="Google Shape;308;p23"/>
              <p:cNvGrpSpPr/>
              <p:nvPr/>
            </p:nvGrpSpPr>
            <p:grpSpPr>
              <a:xfrm>
                <a:off x="123825" y="123825"/>
                <a:ext cx="133500" cy="133500"/>
                <a:chOff x="9525" y="9525"/>
                <a:chExt cx="133500" cy="133500"/>
              </a:xfrm>
            </p:grpSpPr>
            <p:sp>
              <p:nvSpPr>
                <p:cNvPr id="309" name="Google Shape;309;p23"/>
                <p:cNvSpPr/>
                <p:nvPr/>
              </p:nvSpPr>
              <p:spPr>
                <a:xfrm>
                  <a:off x="9525" y="9525"/>
                  <a:ext cx="133500" cy="133500"/>
                </a:xfrm>
                <a:prstGeom prst="ellipse">
                  <a:avLst/>
                </a:prstGeom>
                <a:solidFill>
                  <a:srgbClr val="000000">
                    <a:alpha val="0"/>
                  </a:srgbClr>
                </a:solidFill>
                <a:ln cap="flat" cmpd="sng" w="14300">
                  <a:solidFill>
                    <a:srgbClr val="16653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" name="Google Shape;310;p23"/>
                <p:cNvSpPr/>
                <p:nvPr/>
              </p:nvSpPr>
              <p:spPr>
                <a:xfrm>
                  <a:off x="38100" y="57150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4300">
                  <a:solidFill>
                    <a:srgbClr val="16653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1" name="Google Shape;311;p23"/>
              <p:cNvSpPr txBox="1"/>
              <p:nvPr/>
            </p:nvSpPr>
            <p:spPr>
              <a:xfrm>
                <a:off x="342900" y="95250"/>
                <a:ext cx="3505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RECONSTRUCTED CHRONOLOGY TABLE</a:t>
                </a:r>
                <a:endParaRPr b="0" sz="7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Captured structured timeline from logs referencing primary evidence markers (</a:t>
                </a:r>
                <a:r>
                  <a:rPr b="0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ev_001</a:t>
                </a:r>
                <a:r>
                  <a:rPr b="0" lang="en" sz="9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, </a:t>
                </a:r>
                <a:r>
                  <a:rPr b="0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ev_002</a:t>
                </a:r>
                <a:r>
                  <a:rPr b="0" lang="en" sz="9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).</a:t>
                </a:r>
                <a:endParaRPr b="0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2" name="Google Shape;312;p23"/>
            <p:cNvGrpSpPr/>
            <p:nvPr/>
          </p:nvGrpSpPr>
          <p:grpSpPr>
            <a:xfrm>
              <a:off x="0" y="1085850"/>
              <a:ext cx="3962400" cy="381000"/>
              <a:chOff x="0" y="0"/>
              <a:chExt cx="3962400" cy="381000"/>
            </a:xfrm>
          </p:grpSpPr>
          <p:cxnSp>
            <p:nvCxnSpPr>
              <p:cNvPr id="313" name="Google Shape;313;p23"/>
              <p:cNvCxnSpPr/>
              <p:nvPr/>
            </p:nvCxnSpPr>
            <p:spPr>
              <a:xfrm>
                <a:off x="0" y="0"/>
                <a:ext cx="0" cy="3810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28575">
                <a:solidFill>
                  <a:srgbClr val="16653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14" name="Google Shape;314;p23"/>
              <p:cNvSpPr txBox="1"/>
              <p:nvPr/>
            </p:nvSpPr>
            <p:spPr>
              <a:xfrm>
                <a:off x="114300" y="0"/>
                <a:ext cx="3848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VERIFIED SYSTEM INTERFACES</a:t>
                </a:r>
                <a:endParaRPr b="0" sz="90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60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CLI execution &amp; FastAPI Web Cockpit operational.</a:t>
                </a:r>
                <a:endParaRPr b="0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15" name="Google Shape;315;p23"/>
          <p:cNvGrpSpPr/>
          <p:nvPr/>
        </p:nvGrpSpPr>
        <p:grpSpPr>
          <a:xfrm>
            <a:off x="4724400" y="2819400"/>
            <a:ext cx="3962400" cy="1467000"/>
            <a:chOff x="0" y="0"/>
            <a:chExt cx="3962400" cy="1467000"/>
          </a:xfrm>
        </p:grpSpPr>
        <p:sp>
          <p:nvSpPr>
            <p:cNvPr id="316" name="Google Shape;316;p23"/>
            <p:cNvSpPr txBox="1"/>
            <p:nvPr/>
          </p:nvSpPr>
          <p:spPr>
            <a:xfrm>
              <a:off x="0" y="0"/>
              <a:ext cx="396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75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OUTPUT 2: ROOT CAUSE TRIAGE</a:t>
              </a:r>
              <a:endParaRPr b="0" sz="75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17" name="Google Shape;317;p23"/>
            <p:cNvGrpSpPr/>
            <p:nvPr/>
          </p:nvGrpSpPr>
          <p:grpSpPr>
            <a:xfrm>
              <a:off x="0" y="228600"/>
              <a:ext cx="3962400" cy="1238400"/>
              <a:chOff x="0" y="0"/>
              <a:chExt cx="3962400" cy="1238400"/>
            </a:xfrm>
          </p:grpSpPr>
          <p:sp>
            <p:nvSpPr>
              <p:cNvPr id="318" name="Google Shape;318;p23"/>
              <p:cNvSpPr/>
              <p:nvPr/>
            </p:nvSpPr>
            <p:spPr>
              <a:xfrm>
                <a:off x="0" y="0"/>
                <a:ext cx="3962400" cy="1238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0" y="0"/>
                <a:ext cx="57300" cy="1238400"/>
              </a:xfrm>
              <a:prstGeom prst="rect">
                <a:avLst/>
              </a:prstGeom>
              <a:solidFill>
                <a:srgbClr val="0055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23"/>
              <p:cNvSpPr txBox="1"/>
              <p:nvPr/>
            </p:nvSpPr>
            <p:spPr>
              <a:xfrm>
                <a:off x="171450" y="133350"/>
                <a:ext cx="30480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Ranked Hypotheses Card</a:t>
                </a:r>
                <a:endParaRPr b="0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Primary candidate evaluated from iterative trace analysis.</a:t>
                </a:r>
                <a:endParaRPr b="0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Supporting Evidence IDs:</a:t>
                </a:r>
                <a:endParaRPr b="0" sz="82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0055A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[ev_892a, ev_4410, ev_901b]</a:t>
                </a:r>
                <a:endParaRPr b="0" sz="825">
                  <a:solidFill>
                    <a:srgbClr val="0055A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321" name="Google Shape;321;p23"/>
              <p:cNvSpPr txBox="1"/>
              <p:nvPr/>
            </p:nvSpPr>
            <p:spPr>
              <a:xfrm>
                <a:off x="3276600" y="133350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750">
                    <a:solidFill>
                      <a:srgbClr val="16653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CONF: 94%</a:t>
                </a:r>
                <a:endParaRPr b="0" sz="75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27" name="Google Shape;327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" name="Google Shape;328;p24"/>
            <p:cNvGrpSpPr/>
            <p:nvPr/>
          </p:nvGrpSpPr>
          <p:grpSpPr>
            <a:xfrm>
              <a:off x="6953250" y="457200"/>
              <a:ext cx="1386960" cy="182880"/>
              <a:chOff x="0" y="0"/>
              <a:chExt cx="1733700" cy="228600"/>
            </a:xfrm>
          </p:grpSpPr>
          <p:sp>
            <p:nvSpPr>
              <p:cNvPr id="329" name="Google Shape;329;p24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55A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4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827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4"/>
              <p:cNvSpPr txBox="1"/>
              <p:nvPr/>
            </p:nvSpPr>
            <p:spPr>
              <a:xfrm>
                <a:off x="30480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Recover</a:t>
                </a:r>
                <a:r>
                  <a:rPr b="1" lang="en" sz="1200">
                    <a:solidFill>
                      <a:srgbClr val="0055A4"/>
                    </a:solidFill>
                    <a:latin typeface="Inter"/>
                    <a:ea typeface="Inter"/>
                    <a:cs typeface="Inter"/>
                    <a:sym typeface="Inter"/>
                  </a:rPr>
                  <a:t>IT</a:t>
                </a:r>
                <a:endParaRPr b="1" sz="1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332" name="Google Shape;332;p24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3" name="Google Shape;333;p24"/>
          <p:cNvSpPr txBox="1"/>
          <p:nvPr/>
        </p:nvSpPr>
        <p:spPr>
          <a:xfrm>
            <a:off x="457200" y="457200"/>
            <a:ext cx="6286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i="0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Next Steps &amp; Project Roadmap</a:t>
            </a:r>
            <a:endParaRPr b="1" i="0" sz="105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34" name="Google Shape;334;p24"/>
          <p:cNvGrpSpPr/>
          <p:nvPr/>
        </p:nvGrpSpPr>
        <p:grpSpPr>
          <a:xfrm>
            <a:off x="457200" y="1295400"/>
            <a:ext cx="3962400" cy="1428900"/>
            <a:chOff x="0" y="0"/>
            <a:chExt cx="3962400" cy="1428900"/>
          </a:xfrm>
        </p:grpSpPr>
        <p:sp>
          <p:nvSpPr>
            <p:cNvPr id="335" name="Google Shape;335;p24"/>
            <p:cNvSpPr/>
            <p:nvPr/>
          </p:nvSpPr>
          <p:spPr>
            <a:xfrm>
              <a:off x="0" y="0"/>
              <a:ext cx="3962400" cy="1428900"/>
            </a:xfrm>
            <a:prstGeom prst="roundRect">
              <a:avLst>
                <a:gd fmla="val 2666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171450" y="17145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4"/>
            <p:cNvSpPr txBox="1"/>
            <p:nvPr/>
          </p:nvSpPr>
          <p:spPr>
            <a:xfrm>
              <a:off x="171450" y="2095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</a:t>
              </a:r>
              <a:endParaRPr b="0" sz="9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38" name="Google Shape;338;p24"/>
            <p:cNvSpPr txBox="1"/>
            <p:nvPr/>
          </p:nvSpPr>
          <p:spPr>
            <a:xfrm>
              <a:off x="571500" y="190500"/>
              <a:ext cx="32385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Actionable Resolution Guidance</a:t>
              </a:r>
              <a:endParaRPr b="0" i="0" sz="10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9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Generate clear, suggested fix steps based on the identified root cause (e.g., config rollbacks or dependency updates).</a:t>
              </a:r>
              <a:endParaRPr b="0" i="0" sz="97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39" name="Google Shape;339;p24"/>
          <p:cNvGrpSpPr/>
          <p:nvPr/>
        </p:nvGrpSpPr>
        <p:grpSpPr>
          <a:xfrm>
            <a:off x="4724400" y="1295400"/>
            <a:ext cx="3962400" cy="1428900"/>
            <a:chOff x="0" y="0"/>
            <a:chExt cx="3962400" cy="1428900"/>
          </a:xfrm>
        </p:grpSpPr>
        <p:sp>
          <p:nvSpPr>
            <p:cNvPr id="340" name="Google Shape;340;p24"/>
            <p:cNvSpPr/>
            <p:nvPr/>
          </p:nvSpPr>
          <p:spPr>
            <a:xfrm>
              <a:off x="0" y="0"/>
              <a:ext cx="3962400" cy="1428900"/>
            </a:xfrm>
            <a:prstGeom prst="roundRect">
              <a:avLst>
                <a:gd fmla="val 2666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171450" y="17145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4"/>
            <p:cNvSpPr txBox="1"/>
            <p:nvPr/>
          </p:nvSpPr>
          <p:spPr>
            <a:xfrm>
              <a:off x="171450" y="2095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</a:t>
              </a:r>
              <a:endParaRPr b="0" sz="9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43" name="Google Shape;343;p24"/>
            <p:cNvSpPr txBox="1"/>
            <p:nvPr/>
          </p:nvSpPr>
          <p:spPr>
            <a:xfrm>
              <a:off x="571500" y="190500"/>
              <a:ext cx="32385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User Review &amp; Confirmation</a:t>
              </a:r>
              <a:endParaRPr b="0" i="0" sz="10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9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Present recommendations to the team for review and approval before taking any action.</a:t>
              </a:r>
              <a:endParaRPr b="0" i="0" sz="97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44" name="Google Shape;344;p24"/>
          <p:cNvGrpSpPr/>
          <p:nvPr/>
        </p:nvGrpSpPr>
        <p:grpSpPr>
          <a:xfrm>
            <a:off x="2428875" y="2000250"/>
            <a:ext cx="4286400" cy="1714650"/>
            <a:chOff x="2428875" y="2000250"/>
            <a:chExt cx="4286400" cy="1714650"/>
          </a:xfrm>
        </p:grpSpPr>
        <p:pic>
          <p:nvPicPr>
            <p:cNvPr id="345" name="Google Shape;34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19600" y="2000250"/>
              <a:ext cx="2667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8875" y="2724150"/>
              <a:ext cx="19200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96075" y="2724150"/>
              <a:ext cx="19200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19600" y="3695700"/>
              <a:ext cx="2667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9" name="Google Shape;349;p24"/>
          <p:cNvGrpSpPr/>
          <p:nvPr/>
        </p:nvGrpSpPr>
        <p:grpSpPr>
          <a:xfrm>
            <a:off x="457200" y="2990850"/>
            <a:ext cx="3962400" cy="1428900"/>
            <a:chOff x="0" y="0"/>
            <a:chExt cx="3962400" cy="1428900"/>
          </a:xfrm>
        </p:grpSpPr>
        <p:sp>
          <p:nvSpPr>
            <p:cNvPr id="350" name="Google Shape;350;p24"/>
            <p:cNvSpPr/>
            <p:nvPr/>
          </p:nvSpPr>
          <p:spPr>
            <a:xfrm>
              <a:off x="0" y="0"/>
              <a:ext cx="3962400" cy="1428900"/>
            </a:xfrm>
            <a:prstGeom prst="roundRect">
              <a:avLst>
                <a:gd fmla="val 2666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4"/>
            <p:cNvSpPr/>
            <p:nvPr/>
          </p:nvSpPr>
          <p:spPr>
            <a:xfrm>
              <a:off x="171450" y="17145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 txBox="1"/>
            <p:nvPr/>
          </p:nvSpPr>
          <p:spPr>
            <a:xfrm>
              <a:off x="171450" y="2095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</a:t>
              </a:r>
              <a:endParaRPr b="0" sz="9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53" name="Google Shape;353;p24"/>
            <p:cNvSpPr txBox="1"/>
            <p:nvPr/>
          </p:nvSpPr>
          <p:spPr>
            <a:xfrm>
              <a:off x="571500" y="190500"/>
              <a:ext cx="32385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Expanded Testing &amp; Scenarios</a:t>
              </a:r>
              <a:endParaRPr b="0" i="0" sz="10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9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Test across a wider variety of incident types, project structures, and pipeline logs.</a:t>
              </a:r>
              <a:endParaRPr b="0" i="0" sz="97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54" name="Google Shape;354;p24"/>
          <p:cNvGrpSpPr/>
          <p:nvPr/>
        </p:nvGrpSpPr>
        <p:grpSpPr>
          <a:xfrm>
            <a:off x="4724400" y="2990850"/>
            <a:ext cx="3962400" cy="1428900"/>
            <a:chOff x="0" y="0"/>
            <a:chExt cx="3962400" cy="1428900"/>
          </a:xfrm>
        </p:grpSpPr>
        <p:sp>
          <p:nvSpPr>
            <p:cNvPr id="355" name="Google Shape;355;p24"/>
            <p:cNvSpPr/>
            <p:nvPr/>
          </p:nvSpPr>
          <p:spPr>
            <a:xfrm>
              <a:off x="0" y="0"/>
              <a:ext cx="3962400" cy="1428900"/>
            </a:xfrm>
            <a:prstGeom prst="roundRect">
              <a:avLst>
                <a:gd fmla="val 2666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171450" y="17145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005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4"/>
            <p:cNvSpPr txBox="1"/>
            <p:nvPr/>
          </p:nvSpPr>
          <p:spPr>
            <a:xfrm>
              <a:off x="171450" y="2095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</a:t>
              </a:r>
              <a:endParaRPr b="0" sz="90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58" name="Google Shape;358;p24"/>
            <p:cNvSpPr txBox="1"/>
            <p:nvPr/>
          </p:nvSpPr>
          <p:spPr>
            <a:xfrm>
              <a:off x="571500" y="190500"/>
              <a:ext cx="32385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Post-Resolution Health Checks</a:t>
              </a:r>
              <a:endParaRPr b="0" i="0" sz="10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9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Perform simple follow-up checks to confirm system metrics have stabilized.</a:t>
              </a:r>
              <a:endParaRPr b="0" i="0" sz="97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