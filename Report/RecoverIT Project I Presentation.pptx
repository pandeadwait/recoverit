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beb4ce77347e8" /><Relationship Type="http://schemas.openxmlformats.org/officeDocument/2006/relationships/extended-properties" Target="/docProps/app.xml" Id="Rf8b2387735fd4c36" /><Relationship Type="http://schemas.openxmlformats.org/officeDocument/2006/relationships/officeDocument" Target="/ppt/presentation.xml" Id="R25db7425964847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2297a31d284b36"/>
  </p:sldMasterIdLst>
  <p:notesMasterIdLst>
    <p:notesMasterId xmlns:r="http://schemas.openxmlformats.org/officeDocument/2006/relationships" r:id="Rdadcde726d004de8"/>
  </p:notesMasterIdLst>
  <p:sldIdLst>
    <p:sldId xmlns:r="http://schemas.openxmlformats.org/officeDocument/2006/relationships" id="256" r:id="R60e7672ab1dd401c"/>
    <p:sldId xmlns:r="http://schemas.openxmlformats.org/officeDocument/2006/relationships" id="257" r:id="R77ac0b1936434839"/>
    <p:sldId xmlns:r="http://schemas.openxmlformats.org/officeDocument/2006/relationships" id="258" r:id="Rfa2096ad226d47e3"/>
    <p:sldId xmlns:r="http://schemas.openxmlformats.org/officeDocument/2006/relationships" id="259" r:id="R94cef3b9d2bb4654"/>
    <p:sldId xmlns:r="http://schemas.openxmlformats.org/officeDocument/2006/relationships" id="260" r:id="Rfdfdfc193023497f"/>
    <p:sldId xmlns:r="http://schemas.openxmlformats.org/officeDocument/2006/relationships" id="261" r:id="R367f05fe0cb142e0"/>
    <p:sldId xmlns:r="http://schemas.openxmlformats.org/officeDocument/2006/relationships" id="262" r:id="R7ddeb216dc5e41ab"/>
    <p:sldId xmlns:r="http://schemas.openxmlformats.org/officeDocument/2006/relationships" id="263" r:id="R1c9e158e4f504b67"/>
    <p:sldId xmlns:r="http://schemas.openxmlformats.org/officeDocument/2006/relationships" id="264" r:id="R6a64a9f4144544a7"/>
    <p:sldId xmlns:r="http://schemas.openxmlformats.org/officeDocument/2006/relationships" id="265" r:id="Ra07679dcaa3a44f1"/>
    <p:sldId xmlns:r="http://schemas.openxmlformats.org/officeDocument/2006/relationships" id="266" r:id="R4d3fde9157a94b00"/>
    <p:sldId xmlns:r="http://schemas.openxmlformats.org/officeDocument/2006/relationships" id="267" r:id="Rebcacc4be9ce42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38fa946c324785" /><Relationship Type="http://schemas.openxmlformats.org/officeDocument/2006/relationships/slideMaster" Target="/ppt/slideMasters/slideMaster1.xml" Id="R192297a31d284b36" /><Relationship Type="http://schemas.openxmlformats.org/officeDocument/2006/relationships/notesMaster" Target="/ppt/notesMasters/notesMaster1.xml" Id="Rdadcde726d004de8" /><Relationship Type="http://schemas.openxmlformats.org/officeDocument/2006/relationships/presProps" Target="/ppt/presProps.xml" Id="R845e66bcae0b4199" /><Relationship Type="http://schemas.openxmlformats.org/officeDocument/2006/relationships/tableStyles" Target="/ppt/tableStyles.xml" Id="Rc6788a0285304fbb" /><Relationship Type="http://schemas.openxmlformats.org/officeDocument/2006/relationships/slide" Target="/ppt/slides/slide1.xml" Id="R60e7672ab1dd401c" /><Relationship Type="http://schemas.openxmlformats.org/officeDocument/2006/relationships/slide" Target="/ppt/slides/slide2.xml" Id="R77ac0b1936434839" /><Relationship Type="http://schemas.openxmlformats.org/officeDocument/2006/relationships/slide" Target="/ppt/slides/slide3.xml" Id="Rfa2096ad226d47e3" /><Relationship Type="http://schemas.openxmlformats.org/officeDocument/2006/relationships/slide" Target="/ppt/slides/slide4.xml" Id="R94cef3b9d2bb4654" /><Relationship Type="http://schemas.openxmlformats.org/officeDocument/2006/relationships/slide" Target="/ppt/slides/slide5.xml" Id="Rfdfdfc193023497f" /><Relationship Type="http://schemas.openxmlformats.org/officeDocument/2006/relationships/slide" Target="/ppt/slides/slide6.xml" Id="R367f05fe0cb142e0" /><Relationship Type="http://schemas.openxmlformats.org/officeDocument/2006/relationships/slide" Target="/ppt/slides/slide7.xml" Id="R7ddeb216dc5e41ab" /><Relationship Type="http://schemas.openxmlformats.org/officeDocument/2006/relationships/slide" Target="/ppt/slides/slide8.xml" Id="R1c9e158e4f504b67" /><Relationship Type="http://schemas.openxmlformats.org/officeDocument/2006/relationships/slide" Target="/ppt/slides/slide9.xml" Id="R6a64a9f4144544a7" /><Relationship Type="http://schemas.openxmlformats.org/officeDocument/2006/relationships/slide" Target="/ppt/slides/slide10.xml" Id="Ra07679dcaa3a44f1" /><Relationship Type="http://schemas.openxmlformats.org/officeDocument/2006/relationships/slide" Target="/ppt/slides/slide11.xml" Id="R4d3fde9157a94b00" /><Relationship Type="http://schemas.openxmlformats.org/officeDocument/2006/relationships/slide" Target="/ppt/slides/slide12.xml" Id="Rebcacc4be9ce42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bc7f35b964d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1dc9508204fd2" /><Relationship Type="http://schemas.openxmlformats.org/officeDocument/2006/relationships/notesMaster" Target="/ppt/notesMasters/notesMaster1.xml" Id="R17b4581f26384c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3ba2b0da404b9f" /><Relationship Type="http://schemas.openxmlformats.org/officeDocument/2006/relationships/notesMaster" Target="/ppt/notesMasters/notesMaster1.xml" Id="R1cfafb689b1745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b06650da204835" /><Relationship Type="http://schemas.openxmlformats.org/officeDocument/2006/relationships/notesMaster" Target="/ppt/notesMasters/notesMaster1.xml" Id="R84e9d89fae474e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930bc9104949a5" /><Relationship Type="http://schemas.openxmlformats.org/officeDocument/2006/relationships/notesMaster" Target="/ppt/notesMasters/notesMaster1.xml" Id="Rd1d841cb4a3b41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0ad626973140d7" /><Relationship Type="http://schemas.openxmlformats.org/officeDocument/2006/relationships/notesMaster" Target="/ppt/notesMasters/notesMaster1.xml" Id="Rc2737a030b8344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1b0accfe054bd4" /><Relationship Type="http://schemas.openxmlformats.org/officeDocument/2006/relationships/notesMaster" Target="/ppt/notesMasters/notesMaster1.xml" Id="R7c7416b2cc7f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6c26bd7d9a4057" /><Relationship Type="http://schemas.openxmlformats.org/officeDocument/2006/relationships/notesMaster" Target="/ppt/notesMasters/notesMaster1.xml" Id="Rb611b83a5c8d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c7bb464fac4117" /><Relationship Type="http://schemas.openxmlformats.org/officeDocument/2006/relationships/notesMaster" Target="/ppt/notesMasters/notesMaster1.xml" Id="Rebf34d52bff541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7726c7a9e545a0" /><Relationship Type="http://schemas.openxmlformats.org/officeDocument/2006/relationships/notesMaster" Target="/ppt/notesMasters/notesMaster1.xml" Id="R62b711205e7048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8fa77c776d4471" /><Relationship Type="http://schemas.openxmlformats.org/officeDocument/2006/relationships/notesMaster" Target="/ppt/notesMasters/notesMaster1.xml" Id="R700e4d0e0aeb4b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b7413e18dd4521" /><Relationship Type="http://schemas.openxmlformats.org/officeDocument/2006/relationships/notesMaster" Target="/ppt/notesMasters/notesMaster1.xml" Id="Re7f5752adcae49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7fca0fd6d547ff" /><Relationship Type="http://schemas.openxmlformats.org/officeDocument/2006/relationships/notesMaster" Target="/ppt/notesMasters/notesMaster1.xml" Id="Re677fe2bc26d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 1.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Chapters 1 and 3.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 2, especially Section 2.18.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Chapters 3 and 4. All implementation and case-study claims are drawn from the final report. The diagram is a simplified conceptual workflow, not a literal representation of every LangGraph node.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Chapters 3 and 4.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Section 4.7.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Sections 4.7 and 4.8.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Sections 4.8 and Chapter 5.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RecoverIT Report IV (Adwait).docx, Chapter 5. All implementation and case-study claims are drawn from the final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d1899458443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0380356d147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64a576eb44a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f07a0c0c064c3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0a8213cd044c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dc09e76304f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EAFC67-BF9A-4450-A48D-188B44479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0B0DD61-F3F3-4865-8673-45A2F20EA7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67D6C2-05AC-4B99-A3C6-06D788F07B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EF5A2A-B232-4DCE-B635-AB90688D00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87D66C-3688-4BC4-9998-3AEB533335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68E1D3-2135-411D-B0BA-E08B8A27F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455C73-B488-44A2-81E6-00F92A2A75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9DCEC3-450C-48FA-A1DA-1BD302ECB6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C092B1-365D-4D22-9B9E-8D2AD64E85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2F3DD8-4763-4946-B1A1-BECE781429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200d1818574d10" /><Relationship Type="http://schemas.openxmlformats.org/officeDocument/2006/relationships/slideLayout" Target="/ppt/slideLayouts/slideLayout1.xml" Id="R1dca5f74b32b476d" /><Relationship Type="http://schemas.openxmlformats.org/officeDocument/2006/relationships/slideLayout" Target="/ppt/slideLayouts/slideLayout2.xml" Id="R031aa59ec9f047f3" /><Relationship Type="http://schemas.openxmlformats.org/officeDocument/2006/relationships/slideLayout" Target="/ppt/slideLayouts/slideLayout3.xml" Id="Raf6e2e2544ec41ad" /><Relationship Type="http://schemas.openxmlformats.org/officeDocument/2006/relationships/slideLayout" Target="/ppt/slideLayouts/slideLayout4.xml" Id="R6bb0773fa015468c" /><Relationship Type="http://schemas.openxmlformats.org/officeDocument/2006/relationships/slideLayout" Target="/ppt/slideLayouts/slideLayout5.xml" Id="R12522c5fc05c4feb" /><Relationship Type="http://schemas.openxmlformats.org/officeDocument/2006/relationships/slideLayout" Target="/ppt/slideLayouts/slideLayout6.xml" Id="R1ab9b11a908149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a5f74b32b476d"/>
    <p:sldLayoutId xmlns:r="http://schemas.openxmlformats.org/officeDocument/2006/relationships" id="2147483650" r:id="R031aa59ec9f047f3"/>
    <p:sldLayoutId xmlns:r="http://schemas.openxmlformats.org/officeDocument/2006/relationships" id="2147483651" r:id="Raf6e2e2544ec41ad"/>
    <p:sldLayoutId xmlns:r="http://schemas.openxmlformats.org/officeDocument/2006/relationships" id="2147483652" r:id="R6bb0773fa015468c"/>
    <p:sldLayoutId xmlns:r="http://schemas.openxmlformats.org/officeDocument/2006/relationships" id="2147483653" r:id="R12522c5fc05c4feb"/>
    <p:sldLayoutId xmlns:r="http://schemas.openxmlformats.org/officeDocument/2006/relationships" id="2147483654" r:id="R1ab9b11a908149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37416fd9a4b2c" /><Relationship Type="http://schemas.openxmlformats.org/officeDocument/2006/relationships/notesSlide" Target="/ppt/notesSlides/notesSlide1.xml" Id="R8ea6733c894541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fae2bb4b92474a" /><Relationship Type="http://schemas.openxmlformats.org/officeDocument/2006/relationships/notesSlide" Target="/ppt/notesSlides/notesSlide2.xml" Id="R5e8fbfb5701b43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751323970f494d" /><Relationship Type="http://schemas.openxmlformats.org/officeDocument/2006/relationships/notesSlide" Target="/ppt/notesSlides/notesSlide3.xml" Id="R7cc1728e5e5d49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e9c96ede9d442d" /><Relationship Type="http://schemas.openxmlformats.org/officeDocument/2006/relationships/notesSlide" Target="/ppt/notesSlides/notesSlide4.xml" Id="R03ebabdacf874d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b29cf30ea4dfb" /><Relationship Type="http://schemas.openxmlformats.org/officeDocument/2006/relationships/notesSlide" Target="/ppt/notesSlides/notesSlide5.xml" Id="R7397ae01fa5a44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f27b174bb846d3" /><Relationship Type="http://schemas.openxmlformats.org/officeDocument/2006/relationships/notesSlide" Target="/ppt/notesSlides/notesSlide6.xml" Id="R1fefbfa524da46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00adcd32e4fc2" /><Relationship Type="http://schemas.openxmlformats.org/officeDocument/2006/relationships/notesSlide" Target="/ppt/notesSlides/notesSlide7.xml" Id="Rbc3be01683144a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ef459200548c7" /><Relationship Type="http://schemas.openxmlformats.org/officeDocument/2006/relationships/notesSlide" Target="/ppt/notesSlides/notesSlide8.xml" Id="R6422be7c252a48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3a4ddc830a4fa6" /><Relationship Type="http://schemas.openxmlformats.org/officeDocument/2006/relationships/notesSlide" Target="/ppt/notesSlides/notesSlide9.xml" Id="R82bac7e9886a475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761f903b684c59" /><Relationship Type="http://schemas.openxmlformats.org/officeDocument/2006/relationships/notesSlide" Target="/ppt/notesSlides/notesSlide10.xml" Id="Rb3dae4784cda43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b565dacab40ea" /><Relationship Type="http://schemas.openxmlformats.org/officeDocument/2006/relationships/notesSlide" Target="/ppt/notesSlides/notesSlide11.xml" Id="Re5f64208a7fe4d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41421e60ac417c" /><Relationship Type="http://schemas.openxmlformats.org/officeDocument/2006/relationships/notesSlide" Target="/ppt/notesSlides/notesSlide12.xml" Id="R05249a0324494b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CD480-8A7E-4543-975F-C5C65C74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D0D5"/>
                </a:solidFill>
                <a:latin typeface="Arial"/>
                <a:ea typeface="Arial"/>
                <a:cs typeface="Arial"/>
              </a:rPr>
              <a:t>RECOVERIT · EVIDENCE-BASED INCIDENT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A3D18-0A0B-42EC-AF5A-87AA15D2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D4DEB-A972-4B9F-924E-1A7B0DBB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CD0DF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A8C4F-27E3-4B9D-AFAB-9838C90C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CD0DF"/>
                </a:solidFill>
                <a:latin typeface="Arial"/>
                <a:ea typeface="Arial"/>
                <a:cs typeface="Arial"/>
              </a:rPr>
              <a:t>01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4AC71-67C6-4610-A4C5-431AAA65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a deployment fails, the symptom is visible.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explanation is spread across several 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A4CA8-2465-4F06-A895-62DF8001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286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Application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6FCC2-6967-44BA-9842-C5ED3503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28975"/>
            <a:ext cx="2286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Metrics &amp;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health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39300-5164-459D-9BFE-783236EE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28975"/>
            <a:ext cx="22860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Git &amp;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8BCC07-497A-4C3C-80D0-37E29FF3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28975"/>
            <a:ext cx="2400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Delivery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77935-6B70-48BA-944F-CEBA40A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Teams must correlate changes, errors and timing before deciding what to do. Missing evidence and plausible explanations can make this investigation slow and difficult to verify.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5D651-6792-40C1-85C0-2A4B5194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D0DF"/>
                </a:solidFill>
                <a:latin typeface="Arial"/>
                <a:ea typeface="Arial"/>
                <a:cs typeface="Arial"/>
              </a:rPr>
              <a:t>Adwait Vikram Pande  ·  Suryansh Rai  ·  Om Kalpesh Kshirsagar</a:t>
            </a:r>
          </a:p>
          <a:p xmlns:a="http://schemas.openxmlformats.org/drawingml/2006/main">
            <a:pPr algn="l">
              <a:defRPr sz="1350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CD0DF"/>
                </a:solidFill>
                <a:latin typeface="Arial"/>
                <a:ea typeface="Arial"/>
                <a:cs typeface="Arial"/>
              </a:rPr>
              <a:t>Guide: Dr. Raja M  |  VIT Chennai  |  B.Tech CSE (AI &amp; ML)</a:t>
            </a:r>
          </a:p>
        </p:txBody>
      </p:sp>
    </p:spTree>
    <p:extLst>
      <p:ext uri="{BB962C8B-B14F-4D97-AF65-F5344CB8AC3E}">
        <p14:creationId xmlns:p14="http://schemas.microsoft.com/office/powerpoint/2010/main" val="490496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C34D6-4F81-44B5-B875-1DCFE753899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724900" y="35147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20663-2F69-4A02-971E-476B07060B1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867400" y="35147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EECE7-5293-4057-B55B-4B0FB9F3E14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09900" y="35147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73343-2693-427C-9857-1786A131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32CDC-7BEC-4E1E-91BB-EBFDDFC8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From scattered signals to a reviewable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C832-825A-403E-BA1D-88D54C53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16DCF-4136-4CD8-BA2C-34845315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C7A6B-DFAC-4652-B78F-77424EBC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We built RecoverIT to investigate an incident, organize supporting evidence and produce ranked explanations with remediation recommendations.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C0722-6AD8-4D15-8C01-40EB3DB6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Incident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9C8D5-8A1D-49C6-B168-E2730AF7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38475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4AD6A-8ADF-4C75-8DDC-0720FB83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38475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Ranked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5BD29-1D6B-40A0-A369-24C50F44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38475"/>
            <a:ext cx="2400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Reviewable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F925A-AC73-4843-BB1D-F87BC746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Traceable reasoning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14520-2770-4DCA-9987-9A3199CC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86325"/>
            <a:ext cx="5048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Connect each explanation to identified evidence and a coherent incident timeline.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07C99-9BEB-46D5-AB9C-8B07E8C6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Bounded investigation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DEB4F-6FB1-4D02-A726-6DF7C504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86325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Use configured read-only sources, explicit stopping conditions and an inconclusive outcome when support is insufficient.</a:t>
            </a:r>
          </a:p>
        </p:txBody>
      </p:sp>
    </p:spTree>
    <p:extLst>
      <p:ext uri="{BB962C8B-B14F-4D97-AF65-F5344CB8AC3E}">
        <p14:creationId xmlns:p14="http://schemas.microsoft.com/office/powerpoint/2010/main" val="158899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683F6-1DD6-40F1-A3E2-4CF6D50E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LITERATURE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BD06B-E00C-44D8-AD84-0B745848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Research lessons that shaped the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3B000-9DBD-4E97-B926-17272226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ABD62-E76A-4B95-9111-C60A0A0A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8B5DF-865D-4BC0-8531-EC00DB8FE225}"/>
              </a:ext>
            </a:extLst>
          </p:cNvPr>
          <p:cNvGraphicFramePr/>
          <p:nvPr/>
        </p:nvGraphicFramePr>
        <p:xfrm>
          <a:off xmlns:a="http://schemas.openxmlformats.org/drawingml/2006/main" x="609600" y="18383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905250"/>
                <a:gridCol w="4352925"/>
              </a:tblGrid>
              <a:tr h="5873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Research area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Useful direction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Our design response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</a:tr>
              <a:tr h="5873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LLM agents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Iterative retrieval and tool use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Bounded queries and typed outputs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5873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Log-based diagnosis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Filter high-value error signals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Join logs with changes and health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Microservice RCA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Correlate multiple signal types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Provenance and timeline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5873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CI/CD failure analysis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Use pipeline and delivery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Configured delivery evidence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Self-healing systems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Connect diagnosis to procedures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Policy-checked advice for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BB31BB-83CB-4244-89FE-4369A4B5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3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Design focus: make the path from collected evidence to recommended action inspectable, while preserving uncertainty and missing source coverage.</a:t>
            </a:r>
          </a:p>
        </p:txBody>
      </p:sp>
    </p:spTree>
    <p:extLst>
      <p:ext uri="{BB962C8B-B14F-4D97-AF65-F5344CB8AC3E}">
        <p14:creationId xmlns:p14="http://schemas.microsoft.com/office/powerpoint/2010/main" val="1108331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60CC89-4E82-4A49-B6D3-E7C6081A942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657600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DD2FA-3D74-4B9D-AA5B-E04CD69310D0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6096000" y="256222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835CB4-5C2D-4B4C-8FE5-F97E9021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C3C74-94DD-49C2-9906-E26842AD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A shared investigation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E0CD5-948A-4E0E-984C-FAB2764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40603-A190-496E-AFF0-9B402BD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79D89-889D-4062-96B7-EBED48D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CONFIGURED SOURCES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Logs  ·  Metrics  ·  Git changes  ·  Deployment and pipeline records  ·  Health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E2E2E-DE59-4C4F-A6C5-5DD6E5B6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 LAYER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Adapters → validation &amp; redaction → normalized evidence → timeline &amp;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E9914-9D91-4723-9189-4892B252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INVESTIGATION LAYER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LangGraph workflow → hypotheses → deterministic ranking → policy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0D80B-D3AC-4583-981D-F96FEA7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523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One runner, multiple interfaces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BE300-7AED-420C-9D41-9B82748A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CLI + Markdown report  |  FastAPI service + web interface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F983F-7D1D-4CD3-AD2F-F1D907DD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Implementation: Python · Pydantic · LangGraph · SQLite checkpoints · FastAPI</a:t>
            </a:r>
          </a:p>
        </p:txBody>
      </p:sp>
    </p:spTree>
    <p:extLst>
      <p:ext uri="{BB962C8B-B14F-4D97-AF65-F5344CB8AC3E}">
        <p14:creationId xmlns:p14="http://schemas.microsoft.com/office/powerpoint/2010/main" val="697631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824CC-BF4E-4598-A8B7-DAACAF02CFC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324975" y="2352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865C5-EFB4-49EB-907E-BC447736EF9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086600" y="2352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7AAFA-A596-436B-8A97-15FFF03BA438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48225" y="2352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7531F-4B15-4C08-9E77-D3D951B3449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09850" y="235267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604E47-68F4-4E6C-9049-B983DB00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 PROCESSING &amp; PROVENANCE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B6EE4-9DFD-475E-B3BE-B4EB09DF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Evidence is prepared before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CB8B19-60FF-429F-9882-AE581DE2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BED7A-446C-4203-9ABF-83A0532A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349D9-CD37-49B5-9250-77257546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599A-6FD2-4A28-95D5-5ED93ED7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240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Validate &amp;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7B3EE-70A6-440A-8FFF-A9D55E38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Normalize &amp;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deduplicate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FD30E-AE4E-4007-B7B4-08D99DB3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9240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Build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timeline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B1359-A52F-42C3-AF06-472B1533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9240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Assemble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D9CA84-4C09-4F9A-AB0C-EB7DA93D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Keep the source attached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FBDB4-38BA-46BB-8882-4E01F646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 retains source identifiers and timing so that a result can be traced back to the record that supports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49995-30E3-49E0-8FE5-9B9C269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147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Make gaps explicit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2E17A7-B484-4F26-8962-86CCC8E8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433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An unavailable source or failed query is recorded as missing coverage. It does not become evidence that a fault is absent.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C6673-285A-4A20-869D-828D168A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Use consistent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5DC9E-B588-4377-BEBD-601C31E7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UTC timestamps, deterministic retrieval and a structured incident snapshot give the reasoning workflow a consistent 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7F7C2-CEE3-411F-9682-148B5849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053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Separate sequence from cause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04D73-4221-4322-AD0C-F00A53BA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The timeline supports correlation. An event happening before a failure is not enough to establish that it caused the failure.</a:t>
            </a:r>
          </a:p>
        </p:txBody>
      </p:sp>
    </p:spTree>
    <p:extLst>
      <p:ext uri="{BB962C8B-B14F-4D97-AF65-F5344CB8AC3E}">
        <p14:creationId xmlns:p14="http://schemas.microsoft.com/office/powerpoint/2010/main" val="770064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A3C8BB-87B5-422D-946A-A89B7752D2F6}"/>
              </a:ext>
            </a:extLst>
          </p:cNvPr>
          <p:cNvCxnSpPr>
            <a:stCxn xmlns:a="http://schemas.openxmlformats.org/drawingml/2006/main" id="11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5095875" y="26765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AF4A8-F256-4069-A3FC-A464DB9496F1}"/>
              </a:ext>
            </a:extLst>
          </p:cNvPr>
          <p:cNvCxnSpPr>
            <a:stCxn xmlns:a="http://schemas.openxmlformats.org/drawingml/2006/main" id="11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2990850" y="36480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E111C-8CBF-49B7-9361-9BBF189B91C5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6286500" y="36480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71961-E4EB-4E5C-B813-9ED4691CF0C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8486775" y="2676525"/>
            <a:ext cx="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F3A03-B1EA-4A9E-A1BC-63682F21D99C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86500" y="22860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C49C4-5B20-42C3-A479-234D0F7B603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990850" y="22860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6616BE-A60C-42B7-9960-3D3CF344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BOUNDED INVESTIGATION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A2928E-2812-4165-A443-B01F7CA1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Investigate, reassess, then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43D1B-02E5-4BA3-907F-4BAF0AC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8263-09FE-4936-8E8A-8011435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F5C49-8C0A-425E-939A-8F1D6D4E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Assess evidence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gaps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7A0E0-6D33-4155-92B2-381A5D97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95475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Plan supported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queries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B4B0A-0315-4955-8AD3-BC04A9C6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95475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Collect &amp; update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9A058-4C05-4758-A3B7-8ACB10FE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2571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Generate and rank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92364-90CF-4AC1-B2E1-596D7916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575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Evaluate support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and budget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A2A41-5865-4C1A-A1C3-38FA817D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38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Supported result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or inconclusive finish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EC2BD-6402-42F7-A668-24B1ED78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Repeat when more evidence is needed and the budget permits.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FC29A7-1A10-413A-8019-B7299AD5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81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Controlled 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42A6C-2764-4A62-8750-4EFB9D2A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Adapter capabilities, timeouts and bounded concurrency constrain evidence collection.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B5755D-CDEC-4A11-9BA1-D743F7CF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815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Resumable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CB4804-563C-4073-9917-A784E67F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102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SQLite checkpoints preserve workflow state by incident identifier, enabling an interrupted investigation to resume.</a:t>
            </a:r>
          </a:p>
        </p:txBody>
      </p:sp>
    </p:spTree>
    <p:extLst>
      <p:ext uri="{BB962C8B-B14F-4D97-AF65-F5344CB8AC3E}">
        <p14:creationId xmlns:p14="http://schemas.microsoft.com/office/powerpoint/2010/main" val="20305733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4A25B-B8CF-4271-A082-E6DFB9C648E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91400" y="45148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CA247-016E-4C1B-A1C4-66C943F04581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76600" y="45148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AB85F-BC91-4438-A405-0494AD02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HYPOTHESIS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C967-2CE1-446E-B167-96D98B6D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Rank explanations by evidence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365F6-7ADC-494A-9B76-2E3B314B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AA12C-3C4C-4C11-AD16-F4A9D8B7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69A97-7DB8-42D9-A5A5-C9265441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Factors that strengthen a cause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78AF7-663C-40F0-9E1A-5A5A0637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Independent sources</a:t>
            </a:r>
          </a:p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Symptom coverage</a:t>
            </a:r>
          </a:p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Temporal and change consistency</a:t>
            </a:r>
          </a:p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Specificity and prediction 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817859-B04B-474C-9795-BE5F7422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Factors that weaken a cause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352B5A-C555-4497-97E4-D053BADA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3362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Contradictory observations</a:t>
            </a:r>
          </a:p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Missing causal links</a:t>
            </a:r>
          </a:p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Explanations supported only by symptoms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D0B54B-3413-4AEA-91B9-14EBEEA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Candidate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hypothesis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1AB2C-DB88-4427-8719-69367A0A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86225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Deterministic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evidence scoring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7BDB3-5938-4647-9FA3-03840558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86225"/>
            <a:ext cx="2743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Ranked cause +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references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DB5AB-4A9B-4C8D-9739-7A2BAAD2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8108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An evidence score expresses support within the investigation. It is not a calibrated probability of correctness or a measured 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2119546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EE19E-20D3-4D4F-9690-55CE98591A2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34300" y="23622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0E23B-704C-4AD4-A27C-4C8DD837378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95725" y="23622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6B9F99-D76C-4883-8B2D-95DF480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REMEDIATION &amp; HUMAN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749B8-1B31-437D-B034-0A3D41F8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Recommendations with explicit safeguards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12AB6-F484-42A7-9D16-FDE138EB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4FF70-6041-4C73-AB97-35AA8EE3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70572-B725-4AC1-811F-9DBBC39D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Proposed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remediation 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87921-3477-4687-A9CF-E989E2E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240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Deterministic</a:t>
            </a:r>
          </a:p>
          <a:p xmlns:a="http://schemas.openxmlformats.org/drawingml/2006/main">
            <a:pPr algn="ctr">
              <a:defRPr sz="180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3384B"/>
                </a:solidFill>
                <a:latin typeface="Arial"/>
                <a:ea typeface="Arial"/>
                <a:cs typeface="Arial"/>
              </a:rPr>
              <a:t>policy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2E376-47CE-452C-A156-732E656C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CBD8E1"/>
            </a:solidFill>
          </a:ln>
        </p:spPr>
        <p:txBody>
          <a:bodyPr xmlns:a="http://schemas.openxmlformats.org/drawingml/2006/main" wrap="square" lIns="114300" tIns="114300" rIns="114300" bIns="114300" anchor="ctr">
            <a:noAutofit/>
          </a:bodyPr>
          <a:lstStyle xmlns:a="http://schemas.openxmlformats.org/drawingml/2006/main">
            <a:def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Recommendation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human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B4A15-4B1F-4C03-8DC7-A09C158F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useful plan includes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990DE-5538-471E-BB72-B4487CD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Prerequisites, descriptive steps, expected outcomes, verification, reversal guidance and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205DD-DD54-45F2-A750-8BDFAA54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051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policy can withhold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D52FBA-01D6-4B9F-90A5-4288CDA6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Low confidence, contradictions, invalid evidence references, sensitive content or an inconclusive investigation can block a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0AE07-B54B-485F-8A5F-5C0FBCCA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Current capability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C65C9-ECD6-43E1-967D-CA9A5EF5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90612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RecoverIT produces advice. It does not execute infrastructure commands, trigger rollback or confirm post-action recovery. The operator reviews and performs any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5256903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BA3D84-8B46-4AFC-9029-8FA144C2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HARBORSHOP · CONTROLLED FAULT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95683-D276-4F51-9165-449E54A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Validation with a separate checkout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501C8-9371-4EA9-9BDF-3F6342E8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BC6BA-A4F8-4B93-B175-5255129D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C9B06-4A01-4691-8718-AB25FCA6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We introduced a one-line configuration fault: the SQLite order-storage path was changed from a provisioned directory to a nonexistent directory. The same traffic script exercised both revisions.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85219-1482-427A-8384-838DEA13E14E}"/>
              </a:ext>
            </a:extLst>
          </p:cNvPr>
          <p:cNvGraphicFramePr/>
          <p:nvPr/>
        </p:nvGraphicFramePr>
        <p:xfrm>
          <a:off xmlns:a="http://schemas.openxmlformats.org/drawingml/2006/main" x="609600" y="2962275"/>
          <a:ext xmlns:a="http://schemas.openxmlformats.org/drawingml/2006/main" cx="10972800" cy="1914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724275"/>
                <a:gridCol w="3724275"/>
              </a:tblGrid>
              <a:tr h="6381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Healthy revision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Faulty revision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</a:tr>
              <a:tr h="6381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15 valid checkout requests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15 / 15 returned HTTP 201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15 / 15 returned HTTP 500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638175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Readiness endpoint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HTTP 200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HTTP 503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66247-15C7-4661-9C93-2FE647CC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Fault isolation: liveness still returned HTTP 200; invalid checkout requests still returned HTTP 400 in the faulty revision.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234EB-DE34-456E-8620-79646A78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Evidence: Git changes · version-controlled configuration · structured logs · readiness · request metrics</a:t>
            </a:r>
          </a:p>
        </p:txBody>
      </p:sp>
    </p:spTree>
    <p:extLst>
      <p:ext uri="{BB962C8B-B14F-4D97-AF65-F5344CB8AC3E}">
        <p14:creationId xmlns:p14="http://schemas.microsoft.com/office/powerpoint/2010/main" val="13940427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2373B-C193-4FA3-B582-159506B4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OBSERVED INVESTIGATION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6C039-3E38-4164-BB3D-A75C3E2A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The leading diagnosis matched the injected fault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F981F-E6EA-4672-B02C-48BDFC95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C1B992-D2BA-4495-803F-6F0D7EC0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0A089-B24E-4B4A-A731-D07FBC30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16.45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2511F-7DA2-450C-9DF3-6218E744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Recorded investigation 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CDE98-3B6A-4568-B791-08A0B857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66900"/>
            <a:ext cx="63817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The top-ranked explanation identified the order-storage configuration regression. The report connected the change with readiness failures and database-open errors.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D9714-85CC-4884-952C-39ADC5B13B70}"/>
              </a:ext>
            </a:extLst>
          </p:cNvPr>
          <p:cNvGraphicFramePr/>
          <p:nvPr/>
        </p:nvGraphicFramePr>
        <p:xfrm>
          <a:off xmlns:a="http://schemas.openxmlformats.org/drawingml/2006/main" x="609600" y="3543300"/>
          <a:ext xmlns:a="http://schemas.openxmlformats.org/drawingml/2006/main" cx="109728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239125"/>
                <a:gridCol w="2733675"/>
              </a:tblGrid>
              <a:tr h="6032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Ranked explanation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score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T w="9525">
                      <a:solidFill>
                        <a:srgbClr val="CBD8E1"/>
                      </a:solidFill>
                      <a:prstDash val="solid"/>
                    </a:lnT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12263A"/>
                    </a:solidFill>
                  </a:tcPr>
                </a:tc>
              </a:tr>
              <a:tr h="6032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1  Storage-path configuration regression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76.45 / 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603250"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2  Infrastructure failure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BD8E1"/>
                      </a:solidFill>
                      <a:prstDash val="solid"/>
                    </a:lnL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/>
                    <a:lstStyle/>
                    <a:p>
                      <a:r>
                        <a:rPr sz="1725" b="0">
                          <a:solidFill>
                            <a:srgbClr val="23384B"/>
                          </a:solidFill>
                          <a:latin typeface="Arial"/>
                          <a:ea typeface="Arial"/>
                          <a:cs typeface="Arial"/>
                        </a:rPr>
                        <a:t>49.70 / 100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BD8E1"/>
                      </a:solidFill>
                      <a:prstDash val="solid"/>
                    </a:lnR>
                    <a:lnB w="9525">
                      <a:solidFill>
                        <a:srgbClr val="CBD8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017D1-41F0-47E8-AA64-02E398D9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Interpretation: one controlled incident supports end-to-end diagnosis in this setup. These scores are not probabilities; production accuracy, time savings and recovery success were not measured.</a:t>
            </a:r>
          </a:p>
        </p:txBody>
      </p:sp>
    </p:spTree>
    <p:extLst>
      <p:ext uri="{BB962C8B-B14F-4D97-AF65-F5344CB8AC3E}">
        <p14:creationId xmlns:p14="http://schemas.microsoft.com/office/powerpoint/2010/main" val="2885434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7FCF9-4CC8-4FD1-9B01-C8C33650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CONTRIBUTIONS &amp; CURRENT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9AA1F-04A2-475F-A92C-3C61DB18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263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263A"/>
                </a:solidFill>
                <a:latin typeface="Arial"/>
                <a:ea typeface="Arial"/>
                <a:cs typeface="Arial"/>
              </a:rPr>
              <a:t>What Project I demonstrates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AFFA3-E53C-499F-BB35-654C4F7D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DD155-6726-4D22-A2A2-1A23BC45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578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3977F-FC08-4D93-ACF9-58E6AAC8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working investigation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E5F0F-1510-4DFB-8556-F0C9F32C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Configured evidence collection, normalized context, iterative reasoning, ranked hypotheses and a generated investigation report.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DF393-2CF2-4C1F-BFEF-5D539A72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954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Evidence-linked explanations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9C2128-821D-4BBA-B8F7-A26ADD3B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24100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The result can be inspected through source references, timeline context and explicit limits on the available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D31C0-95FD-4C9C-8BE9-A108774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concrete application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0764AB-AF73-4BE7-9ADA-ADC9B832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In HarborShop, the leading diagnosis agreed with the known configuration fault while the application remained partly responsive.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CB27B-FF60-43E2-8AB7-9378DC99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290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clearly bounded 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094F5-C3B3-4F5A-A362-7B189C5A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57675"/>
            <a:ext cx="5143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84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84B"/>
                </a:solidFill>
                <a:latin typeface="Arial"/>
                <a:ea typeface="Arial"/>
                <a:cs typeface="Arial"/>
              </a:rPr>
              <a:t>Validation covers a single local incident. Generalization across incident types and operational environments remains to be evaluated.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632CF-D220-4B1C-8EE3-CD45B2C0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contribution is a coherent, reviewable path from incident evidence to recommended next steps.</a:t>
            </a:r>
          </a:p>
        </p:txBody>
      </p:sp>
    </p:spTree>
    <p:extLst>
      <p:ext uri="{BB962C8B-B14F-4D97-AF65-F5344CB8AC3E}">
        <p14:creationId xmlns:p14="http://schemas.microsoft.com/office/powerpoint/2010/main" val="7102514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6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908482-3B67-4F15-848C-79A5B5B6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9D0D5"/>
                </a:solidFill>
                <a:latin typeface="Arial"/>
                <a:ea typeface="Arial"/>
                <a:cs typeface="Arial"/>
              </a:rPr>
              <a:t>FROM PROTOTYPE TO BROADER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1BD9A-E8B9-47FD-A7FE-5B00F865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3669F-8D76-4E40-B4B3-D3FCD843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CD0DF"/>
                </a:solidFill>
                <a:latin typeface="Arial"/>
                <a:ea typeface="Arial"/>
                <a:cs typeface="Arial"/>
              </a:rPr>
              <a:t>RECOVERIT  /  PROJECT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C60F6-DFFF-4507-B57E-11482A89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BCD0D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CD0DF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ECF26-5700-4762-8B83-7CE39911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9D0D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546C8-BDD3-4E76-9BFE-8BBE7FB7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924050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Broaden the incident benchmark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07580-2F8D-4E3D-A14E-5E6425F7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2352675"/>
            <a:ext cx="985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2EB"/>
                </a:solidFill>
                <a:latin typeface="Arial"/>
                <a:ea typeface="Arial"/>
                <a:cs typeface="Arial"/>
              </a:rPr>
              <a:t>Use labelled faults, missing and contradictory sources, and matched manual or rule-based baselines. Measure ranking, citation quality, abstention, time and provider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84671-4901-4A87-A850-D2105BFC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9D0D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39CEF-5BBB-45C7-ADB9-54365ADE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305175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Strengthen evidence and robustness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768E1-9F44-4C7B-9A2F-9099A24C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3733800"/>
            <a:ext cx="985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2EB"/>
                </a:solidFill>
                <a:latin typeface="Arial"/>
                <a:ea typeface="Arial"/>
                <a:cs typeface="Arial"/>
              </a:rPr>
              <a:t>Expand adapters and dependency/change links. Evaluate misleading event sequences, sensitive data and prompt-injection attempts embedded in logs.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B7AB8F-7508-4DE7-9A4E-A07E819B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69D0D5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69D0D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05E72-4353-40B0-AED4-4752E63D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686300"/>
            <a:ext cx="995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Evaluate approved recovery workflows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027A0-BA4F-4ADE-A0BC-9985A813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5114925"/>
            <a:ext cx="98583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D6E2E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6E2EB"/>
                </a:solidFill>
                <a:latin typeface="Arial"/>
                <a:ea typeface="Arial"/>
                <a:cs typeface="Arial"/>
              </a:rPr>
              <a:t>Add identity and authorization, explicit human approval, bounded execution, reversal mechanisms and post-action health checks before claiming autonomous recovery.</a:t>
            </a:r>
          </a:p>
        </p:txBody>
      </p:sp>
    </p:spTree>
    <p:extLst>
      <p:ext uri="{BB962C8B-B14F-4D97-AF65-F5344CB8AC3E}">
        <p14:creationId xmlns:p14="http://schemas.microsoft.com/office/powerpoint/2010/main" val="462293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2026-10-19T16:08:36.0400000Z</dcterms:created>
  <dcterms:modified xsi:type="dcterms:W3CDTF">2026-10-19T16:08:36.0400000Z</dcterms:modified>
</coreProperties>
</file>